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cf189fdfe14f97" /><Relationship Type="http://schemas.openxmlformats.org/officeDocument/2006/relationships/extended-properties" Target="/docProps/app.xml" Id="Rf2bf0b84530a4244" /><Relationship Type="http://schemas.openxmlformats.org/officeDocument/2006/relationships/officeDocument" Target="/ppt/presentation.xml" Id="R83a4ab5592c445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e2bd7012814812"/>
  </p:sldMasterIdLst>
  <p:notesMasterIdLst>
    <p:notesMasterId xmlns:r="http://schemas.openxmlformats.org/officeDocument/2006/relationships" r:id="R57466864acd943ca"/>
  </p:notesMasterIdLst>
  <p:sldIdLst>
    <p:sldId xmlns:r="http://schemas.openxmlformats.org/officeDocument/2006/relationships" id="256" r:id="R54f83eb7ab4542c9"/>
    <p:sldId xmlns:r="http://schemas.openxmlformats.org/officeDocument/2006/relationships" id="257" r:id="R2ece24c86c7c4f81"/>
    <p:sldId xmlns:r="http://schemas.openxmlformats.org/officeDocument/2006/relationships" id="258" r:id="R1add2fd9c2904ec4"/>
    <p:sldId xmlns:r="http://schemas.openxmlformats.org/officeDocument/2006/relationships" id="259" r:id="R3ab536a0da944878"/>
    <p:sldId xmlns:r="http://schemas.openxmlformats.org/officeDocument/2006/relationships" id="260" r:id="Rbeaf74d1f8ea42cd"/>
    <p:sldId xmlns:r="http://schemas.openxmlformats.org/officeDocument/2006/relationships" id="261" r:id="Ra605d9e5470049d9"/>
    <p:sldId xmlns:r="http://schemas.openxmlformats.org/officeDocument/2006/relationships" id="262" r:id="Rf5a4cf35c53f408f"/>
    <p:sldId xmlns:r="http://schemas.openxmlformats.org/officeDocument/2006/relationships" id="263" r:id="R7b37278458774ab5"/>
    <p:sldId xmlns:r="http://schemas.openxmlformats.org/officeDocument/2006/relationships" id="264" r:id="R4aca065d9daa4c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371c3093df4cee" /><Relationship Type="http://schemas.openxmlformats.org/officeDocument/2006/relationships/slideMaster" Target="/ppt/slideMasters/slideMaster1.xml" Id="Reee2bd7012814812" /><Relationship Type="http://schemas.openxmlformats.org/officeDocument/2006/relationships/notesMaster" Target="/ppt/notesMasters/notesMaster1.xml" Id="R57466864acd943ca" /><Relationship Type="http://schemas.openxmlformats.org/officeDocument/2006/relationships/presProps" Target="/ppt/presProps.xml" Id="R2709036e5e7a4dff" /><Relationship Type="http://schemas.openxmlformats.org/officeDocument/2006/relationships/tableStyles" Target="/ppt/tableStyles.xml" Id="R03750db1d2e1454a" /><Relationship Type="http://schemas.openxmlformats.org/officeDocument/2006/relationships/slide" Target="/ppt/slides/slide1.xml" Id="R54f83eb7ab4542c9" /><Relationship Type="http://schemas.openxmlformats.org/officeDocument/2006/relationships/slide" Target="/ppt/slides/slide2.xml" Id="R2ece24c86c7c4f81" /><Relationship Type="http://schemas.openxmlformats.org/officeDocument/2006/relationships/slide" Target="/ppt/slides/slide3.xml" Id="R1add2fd9c2904ec4" /><Relationship Type="http://schemas.openxmlformats.org/officeDocument/2006/relationships/slide" Target="/ppt/slides/slide4.xml" Id="R3ab536a0da944878" /><Relationship Type="http://schemas.openxmlformats.org/officeDocument/2006/relationships/slide" Target="/ppt/slides/slide5.xml" Id="Rbeaf74d1f8ea42cd" /><Relationship Type="http://schemas.openxmlformats.org/officeDocument/2006/relationships/slide" Target="/ppt/slides/slide6.xml" Id="Ra605d9e5470049d9" /><Relationship Type="http://schemas.openxmlformats.org/officeDocument/2006/relationships/slide" Target="/ppt/slides/slide7.xml" Id="Rf5a4cf35c53f408f" /><Relationship Type="http://schemas.openxmlformats.org/officeDocument/2006/relationships/slide" Target="/ppt/slides/slide8.xml" Id="R7b37278458774ab5" /><Relationship Type="http://schemas.openxmlformats.org/officeDocument/2006/relationships/slide" Target="/ppt/slides/slide9.xml" Id="R4aca065d9daa4c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95977bd19642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95c5f2965846e8" /><Relationship Type="http://schemas.openxmlformats.org/officeDocument/2006/relationships/notesMaster" Target="/ppt/notesMasters/notesMaster1.xml" Id="R1bcb9cdc43cb44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df0d2fe01b4f38" /><Relationship Type="http://schemas.openxmlformats.org/officeDocument/2006/relationships/notesMaster" Target="/ppt/notesMasters/notesMaster1.xml" Id="R6b7c4695fe554e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86d2ba86cd4bdc" /><Relationship Type="http://schemas.openxmlformats.org/officeDocument/2006/relationships/notesMaster" Target="/ppt/notesMasters/notesMaster1.xml" Id="R47817d4e73cd49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5760ee3f774658" /><Relationship Type="http://schemas.openxmlformats.org/officeDocument/2006/relationships/notesMaster" Target="/ppt/notesMasters/notesMaster1.xml" Id="R9380f44707b647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a2b2720c1d4491" /><Relationship Type="http://schemas.openxmlformats.org/officeDocument/2006/relationships/notesMaster" Target="/ppt/notesMasters/notesMaster1.xml" Id="Rc8c18a92132e4f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e7948636fa43eb" /><Relationship Type="http://schemas.openxmlformats.org/officeDocument/2006/relationships/notesMaster" Target="/ppt/notesMasters/notesMaster1.xml" Id="R0e22f7c402884d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71b94431bc4957" /><Relationship Type="http://schemas.openxmlformats.org/officeDocument/2006/relationships/notesMaster" Target="/ppt/notesMasters/notesMaster1.xml" Id="R039a9d85574d49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3bb364a3794692" /><Relationship Type="http://schemas.openxmlformats.org/officeDocument/2006/relationships/notesMaster" Target="/ppt/notesMasters/notesMaster1.xml" Id="R333af724867445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1f1d51533942f1" /><Relationship Type="http://schemas.openxmlformats.org/officeDocument/2006/relationships/notesMaster" Target="/ppt/notesMasters/notesMaster1.xml" Id="Rad801695ca0d4e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 · Slide 1 · tagtag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“What if your favourite places had something waiting for you? tagtag is an augmented reality collecting game that helps communities create discoveries worth sharing. Find your places. Collect your moments.”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0:15–0:45 · Slide 2 · Two inspirations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“POAP showed how a digital collectible can carry the memory of being there. Reports put its lifetime reach at nearly 7.6 million badges, created by more than 46,000 issuers.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Pokémon GO showed the joy of taking a collecting game into the real world. It gave people a reason to explore and meet in shared places.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tagtag brings those ideas together: discovery with something personal to keep.”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https://poap.xyz/ and https://thecoinomist.com/news/poap-to-shut-down-after-minting-7-6m-event-badges/ (3 August 2026). 46,210 counts issuers, not distinct event designs. Pokémon GO: https://pokemongo.com/en. These products inspired tagtag; no affiliation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0:45–1:05 · Slide 3 · A place has a story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“Think about a café you love, a corner of your campus, or a conversation at a hackathon. Each could hold a small discovery for the next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want to give communities a playful way to share those places, with a keepsake that remembers the experience.”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1:05–1:30 · Slide 4 · The collecting 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“A creator chooses a sticker, places it on a real surface in AR, and leaves a clue and a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explorer follows a nearby map pin and looks for the sticker at that spot. Collecting adds a copy to their sticker book and reveals the note. The original stays there for someone else to discover.”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1:30–1:55 · Slide 5 · A game communities can make their 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“Imagine a conference where each community leaves a sticker at its gathering place. Or a neighbourhood walk curated by local artists.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community supplies the stories and the places. Players explore, collect, and share what they found. Those shared discoveries give people a reason to meet and a reason to return. These are the experiences we want to test next.”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1:55–3:10 · Slide 6 ·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Switch to the mirrored iPhone at **1:55**. Keep this as one dedicated DEMO slide. Use a prepared location and a short note to avoid spending time typing.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Time | Action | Spoken words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1:55–2:05 | Show the sticker book, then open STICK. | “Here’s tagtag. This is my sticker book, and I’m going to leave a little discovery.” |</a:t>
            </a:r>
          </a:p>
          <a:p xmlns:a="http://schemas.openxmlformats.org/drawingml/2006/main">
            <a:r>
              <a:t>| 2:05–2:25 | Choose artwork, scan a surface, and place it. | “I choose Taggi, find a surface, and place the sticker. I can move it, resize it, and rotate it so it belongs in this spot.” |</a:t>
            </a:r>
          </a:p>
          <a:p xmlns:a="http://schemas.openxmlformats.org/drawingml/2006/main">
            <a:r>
              <a:t>| 2:25–2:45 | Show the clue, note, and publishing flow. | “I add a clue for the explorer and a note to reveal after collection. The app saves the placement and a reference photo to help someone find the same spot.” |</a:t>
            </a:r>
          </a:p>
          <a:p xmlns:a="http://schemas.openxmlformats.org/drawingml/2006/main">
            <a:r>
              <a:t>| 2:45–3:00 | Open Explore and show the placement’s pin and teaser. | “Now the discovery has a place on the map. This is the invitation to come and look.” |</a:t>
            </a:r>
          </a:p>
          <a:p xmlns:a="http://schemas.openxmlformats.org/drawingml/2006/main">
            <a:r>
              <a:t>| 3:00–3:10 | If verified, show a second phone collecting. Otherwise show the collection UI and use the fallback below. | Verified: “On the finder’s phone, collecting adds a copy to the book and reveals the note. The original remains for the next visitor.”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**Fallback for the final ten seconds:** “This is the collection interface. The complete journey between two phones is our next device test.” Do not present a simulated screen or a prepared book entry as a successful live collection.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tracking or uploading takes too long, say “This step is still processing; I’ll show the saved placement,” and move to a known placement. Return to the deck at **3:10**. Do not accelerate the footage.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3:10–3:35 · Slide 7 · How it works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“We built the iPhone experience in Unity with ARKit, and use Apple’s maps for nearby discovery. Firebase and our Cloud Run API store stickers, collections, and private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also built an optional Ethereum Sepolia souvenir path. It remains disabled while we verify minting and wallets. The collecting experience works without a blockchain transaction.”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3:35–3:50 · Slide 8 · The first community pilot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“Next, we want to run a small community trail: a handful of meaningful places, a set of original stickers, and real people trying the full journey. We’ll learn whether they finish the trail and come back for another.”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3:50–4:00 · Slide 9 · Find your places. Collect your moments.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“tagtag turns places into invitations, and discoveries into keepsakes. We’re looking for a community to create the first trail with us. Thank you.”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Recording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Use your own voice, clear audio without music, and at least 720p. Keep the final export between 2:00 and 4:00. Aim to finish speech a few seconds before 4:00 so the final cut stays within the limit.</a:t>
            </a:r>
          </a:p>
          <a:p xmlns:a="http://schemas.openxmlformats.org/drawingml/2006/main">
            <a:r>
              <a:t>- Slide 6 reserves 75 seconds, including interaction and pauses. Keep the closing at 3:50 even if the demo runs slowly.</a:t>
            </a:r>
          </a:p>
          <a:p xmlns:a="http://schemas.openxmlformats.org/drawingml/2006/main">
            <a:r>
              <a:t>- The repository currently sets `nftEnabled` to `false`. Keep slide 7’s statement unless a newer build and live acceptance evidence establish otherwise.</a:t>
            </a:r>
          </a:p>
          <a:p xmlns:a="http://schemas.openxmlformats.org/drawingml/2006/main">
            <a:r>
              <a:t>- Community trails are a proposed pilot, not current customers, traction, or a finished campaign-management product.</a:t>
            </a:r>
          </a:p>
          <a:p xmlns:a="http://schemas.openxmlformats.org/drawingml/2006/main">
            <a:r>
              <a:t>- The app screenshots in the deck are simulator/UI fixture captures. Their counts are sample data, not user or usage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[POAP’s own description](https://poap.xyz/): collecting memories and connecting communities.</a:t>
            </a:r>
          </a:p>
          <a:p xmlns:a="http://schemas.openxmlformats.org/drawingml/2006/main">
            <a:r>
              <a:t>- [Reported POAP totals, 3 August 2026](https://thecoinomist.com/news/poap-to-shut-down-after-minting-7-6m-event-badges/): nearly 7.6 million badges and over 46,210 issuers. **Issuers** is the reported unit, not distinct badge designs. These are historical totals, not a live counter.</a:t>
            </a:r>
          </a:p>
          <a:p xmlns:a="http://schemas.openxmlformats.org/drawingml/2006/main">
            <a:r>
              <a:t>- [Pokémon GO](https://pokemongo.com/en): real-world collecting and exploration. No player-count claim appears in the deck.</a:t>
            </a:r>
          </a:p>
          <a:p xmlns:a="http://schemas.openxmlformats.org/drawingml/2006/main">
            <a:r>
              <a:t>- [Project description and evidence](../SUBMISSION.md), [feature readiness](../../FEATURE_READINESS.md), and [screenshot provenance](../SCREENSHOTS.md).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e7ff7f2ab40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02fa5eaf7d4006" /><Relationship Type="http://schemas.openxmlformats.org/officeDocument/2006/relationships/slideLayout" Target="/ppt/slideLayouts/slideLayout1.xml" Id="R9550a6b7da2549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50a6b7da2549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172577c874e2b" /><Relationship Type="http://schemas.openxmlformats.org/officeDocument/2006/relationships/image" Target="/ppt/media/image.png" Id="Rc323f88e8cce4402" /><Relationship Type="http://schemas.openxmlformats.org/officeDocument/2006/relationships/notesSlide" Target="/ppt/notesSlides/notesSlide1.xml" Id="R29b22d4ea09847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f5d7a11094e26" /><Relationship Type="http://schemas.openxmlformats.org/officeDocument/2006/relationships/image" Target="/ppt/media/image2.png" Id="R1d3bda443ffd4e81" /><Relationship Type="http://schemas.openxmlformats.org/officeDocument/2006/relationships/notesSlide" Target="/ppt/notesSlides/notesSlide2.xml" Id="Rdc41a7df75f844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b3dc1dbfb4a73" /><Relationship Type="http://schemas.openxmlformats.org/officeDocument/2006/relationships/image" Target="/ppt/media/image3.png" Id="R66dc0ba4673140ad" /><Relationship Type="http://schemas.openxmlformats.org/officeDocument/2006/relationships/notesSlide" Target="/ppt/notesSlides/notesSlide3.xml" Id="R25df06c01c5d46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fe61c58f0492f" /><Relationship Type="http://schemas.openxmlformats.org/officeDocument/2006/relationships/image" Target="/ppt/media/image4.png" Id="R59daed44e71b488a" /><Relationship Type="http://schemas.openxmlformats.org/officeDocument/2006/relationships/image" Target="/ppt/media/image5.png" Id="R67bf2cece88f44d8" /><Relationship Type="http://schemas.openxmlformats.org/officeDocument/2006/relationships/image" Target="/ppt/media/image6.png" Id="R6f28bc55f47b4178" /><Relationship Type="http://schemas.openxmlformats.org/officeDocument/2006/relationships/notesSlide" Target="/ppt/notesSlides/notesSlide4.xml" Id="R38abe4b49f614c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f1781a0d6492a" /><Relationship Type="http://schemas.openxmlformats.org/officeDocument/2006/relationships/image" Target="/ppt/media/image7.png" Id="R6aa50bd71931491b" /><Relationship Type="http://schemas.openxmlformats.org/officeDocument/2006/relationships/notesSlide" Target="/ppt/notesSlides/notesSlide5.xml" Id="R84c7cba9490f4a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ae90356844173" /><Relationship Type="http://schemas.openxmlformats.org/officeDocument/2006/relationships/image" Target="/ppt/media/image8.png" Id="R9be05a6edc574144" /><Relationship Type="http://schemas.openxmlformats.org/officeDocument/2006/relationships/notesSlide" Target="/ppt/notesSlides/notesSlide6.xml" Id="R21d742b77ca241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aef366c904671" /><Relationship Type="http://schemas.openxmlformats.org/officeDocument/2006/relationships/image" Target="/ppt/media/image9.png" Id="Re54fd0be4e304e5f" /><Relationship Type="http://schemas.openxmlformats.org/officeDocument/2006/relationships/notesSlide" Target="/ppt/notesSlides/notesSlide7.xml" Id="Rcefc9f6e1e144f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3097ff7564dc2" /><Relationship Type="http://schemas.openxmlformats.org/officeDocument/2006/relationships/image" Target="/ppt/media/image10.png" Id="Rd7363263997341bc" /><Relationship Type="http://schemas.openxmlformats.org/officeDocument/2006/relationships/notesSlide" Target="/ppt/notesSlides/notesSlide8.xml" Id="Rf3574b34d11a4e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ad168a57e448d" /><Relationship Type="http://schemas.openxmlformats.org/officeDocument/2006/relationships/image" Target="/ppt/media/image11.png" Id="R1ce18a1e50544b70" /><Relationship Type="http://schemas.openxmlformats.org/officeDocument/2006/relationships/notesSlide" Target="/ppt/notesSlides/notesSlide9.xml" Id="Rf15e0098f8fc49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agtag">
            <a:extLst xmlns:a="http://schemas.openxmlformats.org/drawingml/2006/main">
              <a:ext uri="{FF2B5EF4-FFF2-40B4-BE49-F238E27FC236}">
                <a16:creationId xmlns:a16="http://schemas.microsoft.com/office/drawing/2014/main" id="{DB7C9AF7-E405-4A36-A5F6-D14A03CF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8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118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tagtag</a:t>
            </a:r>
          </a:p>
        </p:txBody>
      </p:sp>
      <p:sp>
        <p:nvSpPr>
          <p:cNvPr id="2" name="An AR collecting game&#10;for communities">
            <a:extLst xmlns:a="http://schemas.openxmlformats.org/drawingml/2006/main">
              <a:ext uri="{FF2B5EF4-FFF2-40B4-BE49-F238E27FC236}">
                <a16:creationId xmlns:a16="http://schemas.microsoft.com/office/drawing/2014/main" id="{CE8D7479-4F36-4EEA-8E13-60C60F17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628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31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An AR collecting game</a:t>
            </a:r>
          </a:p>
          <a:p xmlns:a="http://schemas.openxmlformats.org/drawingml/2006/main">
            <a:pPr>
              <a:defRPr sz="31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31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for communities</a:t>
            </a:r>
          </a:p>
        </p:txBody>
      </p:sp>
      <p:sp>
        <p:nvSpPr>
          <p:cNvPr id="3" name="Find your places. Collect your moments.">
            <a:extLst xmlns:a="http://schemas.openxmlformats.org/drawingml/2006/main">
              <a:ext uri="{FF2B5EF4-FFF2-40B4-BE49-F238E27FC236}">
                <a16:creationId xmlns:a16="http://schemas.microsoft.com/office/drawing/2014/main" id="{F6EA8D57-AFC1-4EA2-9FC8-3C89712B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2625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Find your places. Collect your moments.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3f88e8cce4402"/>
          <a:stretch xmlns:a="http://schemas.openxmlformats.org/drawingml/2006/main"/>
        </p:blipFill>
        <p:spPr>
          <a:xfrm xmlns:a="http://schemas.openxmlformats.org/drawingml/2006/main">
            <a:off x="7429500" y="143827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5" name="ETHGlobal Tokyo 2026">
            <a:extLst xmlns:a="http://schemas.openxmlformats.org/drawingml/2006/main">
              <a:ext uri="{FF2B5EF4-FFF2-40B4-BE49-F238E27FC236}">
                <a16:creationId xmlns:a16="http://schemas.microsoft.com/office/drawing/2014/main" id="{ED450121-3799-4954-8E96-CF27F9D2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91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50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ETHGlobal Tokyo 2026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8B4ED352-2CE1-479F-85D2-30E0E029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5376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wo inspirations">
            <a:extLst xmlns:a="http://schemas.openxmlformats.org/drawingml/2006/main">
              <a:ext uri="{FF2B5EF4-FFF2-40B4-BE49-F238E27FC236}">
                <a16:creationId xmlns:a16="http://schemas.microsoft.com/office/drawing/2014/main" id="{302C850B-8FC1-4842-8282-A8CAD45F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009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1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51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Two inspirations</a:t>
            </a:r>
          </a:p>
        </p:txBody>
      </p:sp>
      <p:sp>
        <p:nvSpPr>
          <p:cNvPr id="2" name="POAP">
            <a:extLst xmlns:a="http://schemas.openxmlformats.org/drawingml/2006/main">
              <a:ext uri="{FF2B5EF4-FFF2-40B4-BE49-F238E27FC236}">
                <a16:creationId xmlns:a16="http://schemas.microsoft.com/office/drawing/2014/main" id="{9076BD7F-CC6F-4FE9-937B-754B73F4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764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43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POAP</a:t>
            </a:r>
          </a:p>
        </p:txBody>
      </p:sp>
      <p:sp>
        <p:nvSpPr>
          <p:cNvPr id="3" name="Memories worth keeping">
            <a:extLst xmlns:a="http://schemas.openxmlformats.org/drawingml/2006/main">
              <a:ext uri="{FF2B5EF4-FFF2-40B4-BE49-F238E27FC236}">
                <a16:creationId xmlns:a16="http://schemas.microsoft.com/office/drawing/2014/main" id="{499F7E15-491F-4244-885B-1234A40F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Memories worth keeping</a:t>
            </a:r>
          </a:p>
        </p:txBody>
      </p:sp>
      <p:sp>
        <p:nvSpPr>
          <p:cNvPr id="4" name="~7.6 million">
            <a:extLst xmlns:a="http://schemas.openxmlformats.org/drawingml/2006/main">
              <a:ext uri="{FF2B5EF4-FFF2-40B4-BE49-F238E27FC236}">
                <a16:creationId xmlns:a16="http://schemas.microsoft.com/office/drawing/2014/main" id="{5529F5CE-5389-4BEE-8169-0213B41D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004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40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~7.6 million</a:t>
            </a:r>
          </a:p>
        </p:txBody>
      </p:sp>
      <p:sp>
        <p:nvSpPr>
          <p:cNvPr id="5" name="badges minted">
            <a:extLst xmlns:a="http://schemas.openxmlformats.org/drawingml/2006/main">
              <a:ext uri="{FF2B5EF4-FFF2-40B4-BE49-F238E27FC236}">
                <a16:creationId xmlns:a16="http://schemas.microsoft.com/office/drawing/2014/main" id="{E159C67E-0B7E-4328-A700-B0988590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719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9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badges minted</a:t>
            </a:r>
          </a:p>
        </p:txBody>
      </p:sp>
      <p:sp>
        <p:nvSpPr>
          <p:cNvPr id="6" name="46,210+ issuers">
            <a:extLst xmlns:a="http://schemas.openxmlformats.org/drawingml/2006/main">
              <a:ext uri="{FF2B5EF4-FFF2-40B4-BE49-F238E27FC236}">
                <a16:creationId xmlns:a16="http://schemas.microsoft.com/office/drawing/2014/main" id="{1E122A76-4769-4259-9E3D-9FAE0A91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46,210+ issuers</a:t>
            </a:r>
          </a:p>
        </p:txBody>
      </p:sp>
      <p:sp>
        <p:nvSpPr>
          <p:cNvPr id="7" name="Pokémon GO">
            <a:extLst xmlns:a="http://schemas.openxmlformats.org/drawingml/2006/main">
              <a:ext uri="{FF2B5EF4-FFF2-40B4-BE49-F238E27FC236}">
                <a16:creationId xmlns:a16="http://schemas.microsoft.com/office/drawing/2014/main" id="{31A4D460-6D1F-43C2-8FF1-2678E9A3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764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43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Pokémon GO</a:t>
            </a:r>
          </a:p>
        </p:txBody>
      </p:sp>
      <p:sp>
        <p:nvSpPr>
          <p:cNvPr id="8" name="Discovery worth&#10;going out for">
            <a:extLst xmlns:a="http://schemas.openxmlformats.org/drawingml/2006/main">
              <a:ext uri="{FF2B5EF4-FFF2-40B4-BE49-F238E27FC236}">
                <a16:creationId xmlns:a16="http://schemas.microsoft.com/office/drawing/2014/main" id="{7FA1E8E4-4042-4ED8-831D-DBE717C5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146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70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Discovery worth</a:t>
            </a:r>
          </a:p>
          <a:p xmlns:a="http://schemas.openxmlformats.org/drawingml/2006/main">
            <a:pPr>
              <a:defRPr sz="270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70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going out for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bda443ffd4e81"/>
          <a:stretch xmlns:a="http://schemas.openxmlformats.org/drawingml/2006/main"/>
        </p:blipFill>
        <p:spPr>
          <a:xfrm xmlns:a="http://schemas.openxmlformats.org/drawingml/2006/main">
            <a:off x="8848725" y="4000500"/>
            <a:ext cx="2219325" cy="2219325"/>
          </a:xfrm>
          <a:prstGeom xmlns:a="http://schemas.openxmlformats.org/drawingml/2006/main" prst="rect">
            <a:avLst/>
          </a:prstGeom>
        </p:spPr>
      </p:pic>
      <p:sp>
        <p:nvSpPr>
          <p:cNvPr id="10" name="Historical totals reported August 2026">
            <a:extLst xmlns:a="http://schemas.openxmlformats.org/drawingml/2006/main">
              <a:ext uri="{FF2B5EF4-FFF2-40B4-BE49-F238E27FC236}">
                <a16:creationId xmlns:a16="http://schemas.microsoft.com/office/drawing/2014/main" id="{D95F1CF0-9E41-4F3D-8F44-1111DCE0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10275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425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Historical totals reported August 2026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5B6FFE3F-FEAD-4F07-B659-F48C0E78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50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c0ba4673140ad"/>
          <a:stretch xmlns:a="http://schemas.openxmlformats.org/drawingml/2006/main"/>
        </p:blipFill>
        <p:spPr>
          <a:xfrm xmlns:a="http://schemas.openxmlformats.org/drawingml/2006/main">
            <a:off x="800100" y="896239"/>
            <a:ext cx="2762250" cy="4913122"/>
          </a:xfrm>
          <a:prstGeom xmlns:a="http://schemas.openxmlformats.org/drawingml/2006/main" prst="rect">
            <a:avLst/>
          </a:prstGeom>
        </p:spPr>
      </p:pic>
      <p:sp>
        <p:nvSpPr>
          <p:cNvPr id="2" name="A place has&#10;a story">
            <a:extLst xmlns:a="http://schemas.openxmlformats.org/drawingml/2006/main">
              <a:ext uri="{FF2B5EF4-FFF2-40B4-BE49-F238E27FC236}">
                <a16:creationId xmlns:a16="http://schemas.microsoft.com/office/drawing/2014/main" id="{87670EA0-E35D-49C5-AC6F-0776CDFA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181100"/>
            <a:ext cx="666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1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61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A place has</a:t>
            </a:r>
          </a:p>
          <a:p xmlns:a="http://schemas.openxmlformats.org/drawingml/2006/main">
            <a:pPr>
              <a:defRPr sz="61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61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a story</a:t>
            </a:r>
          </a:p>
        </p:txBody>
      </p:sp>
      <p:sp>
        <p:nvSpPr>
          <p:cNvPr id="3" name="Leave a little discovery&#10;for the next person.">
            <a:extLst xmlns:a="http://schemas.openxmlformats.org/drawingml/2006/main">
              <a:ext uri="{FF2B5EF4-FFF2-40B4-BE49-F238E27FC236}">
                <a16:creationId xmlns:a16="http://schemas.microsoft.com/office/drawing/2014/main" id="{5B113F2B-28BB-4A6B-9265-1773C3C1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657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31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Leave a little discovery</a:t>
            </a:r>
          </a:p>
          <a:p xmlns:a="http://schemas.openxmlformats.org/drawingml/2006/main">
            <a:pPr>
              <a:defRPr sz="31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31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for the next person.</a:t>
            </a:r>
          </a:p>
        </p:txBody>
      </p:sp>
      <p:sp>
        <p:nvSpPr>
          <p:cNvPr id="4" name="App preview from iOS Simulator">
            <a:extLst xmlns:a="http://schemas.openxmlformats.org/drawingml/2006/main">
              <a:ext uri="{FF2B5EF4-FFF2-40B4-BE49-F238E27FC236}">
                <a16:creationId xmlns:a16="http://schemas.microsoft.com/office/drawing/2014/main" id="{8BF163A1-11C6-483E-828D-EA9F983B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3722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App preview from iOS Simulator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9089C32A-6918-453C-975B-F0995B81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3357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 collecting loop">
            <a:extLst xmlns:a="http://schemas.openxmlformats.org/drawingml/2006/main">
              <a:ext uri="{FF2B5EF4-FFF2-40B4-BE49-F238E27FC236}">
                <a16:creationId xmlns:a16="http://schemas.microsoft.com/office/drawing/2014/main" id="{85BB2DA9-663C-4E7D-91A6-7D8DD255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1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51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The collecting loop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aed44e71b488a"/>
          <a:stretch xmlns:a="http://schemas.openxmlformats.org/drawingml/2006/main"/>
        </p:blipFill>
        <p:spPr>
          <a:xfrm xmlns:a="http://schemas.openxmlformats.org/drawingml/2006/main">
            <a:off x="1171575" y="1862138"/>
            <a:ext cx="2152650" cy="21526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f2cece88f44d8"/>
          <a:stretch xmlns:a="http://schemas.openxmlformats.org/drawingml/2006/main"/>
        </p:blipFill>
        <p:spPr>
          <a:xfrm xmlns:a="http://schemas.openxmlformats.org/drawingml/2006/main">
            <a:off x="4991100" y="1771650"/>
            <a:ext cx="2238375" cy="2238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8bc55f47b4178"/>
          <a:stretch xmlns:a="http://schemas.openxmlformats.org/drawingml/2006/main"/>
        </p:blipFill>
        <p:spPr>
          <a:xfrm xmlns:a="http://schemas.openxmlformats.org/drawingml/2006/main">
            <a:off x="8829675" y="1866900"/>
            <a:ext cx="2143125" cy="2143125"/>
          </a:xfrm>
          <a:prstGeom xmlns:a="http://schemas.openxmlformats.org/drawingml/2006/main" prst="rect">
            <a:avLst/>
          </a:prstGeom>
        </p:spPr>
      </p:pic>
      <p:sp>
        <p:nvSpPr>
          <p:cNvPr id="5" name="1. Leave a sticker">
            <a:extLst xmlns:a="http://schemas.openxmlformats.org/drawingml/2006/main">
              <a:ext uri="{FF2B5EF4-FFF2-40B4-BE49-F238E27FC236}">
                <a16:creationId xmlns:a16="http://schemas.microsoft.com/office/drawing/2014/main" id="{F7E13E92-AA1C-4EB3-9BB6-248A628E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31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1. Leave a sticker</a:t>
            </a:r>
          </a:p>
        </p:txBody>
      </p:sp>
      <p:sp>
        <p:nvSpPr>
          <p:cNvPr id="6" name="Art, a place, a private note.">
            <a:extLst xmlns:a="http://schemas.openxmlformats.org/drawingml/2006/main">
              <a:ext uri="{FF2B5EF4-FFF2-40B4-BE49-F238E27FC236}">
                <a16:creationId xmlns:a16="http://schemas.microsoft.com/office/drawing/2014/main" id="{4A87569C-C879-41DF-AB44-E66197F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2578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025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Art, a place, a private note.</a:t>
            </a:r>
          </a:p>
        </p:txBody>
      </p:sp>
      <p:sp>
        <p:nvSpPr>
          <p:cNvPr id="7" name="2. Find its place">
            <a:extLst xmlns:a="http://schemas.openxmlformats.org/drawingml/2006/main">
              <a:ext uri="{FF2B5EF4-FFF2-40B4-BE49-F238E27FC236}">
                <a16:creationId xmlns:a16="http://schemas.microsoft.com/office/drawing/2014/main" id="{EAECA2B8-8A76-4CA4-90F6-7524EC16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386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31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2. Find its place</a:t>
            </a:r>
          </a:p>
        </p:txBody>
      </p:sp>
      <p:sp>
        <p:nvSpPr>
          <p:cNvPr id="8" name="Follow the clue into AR.">
            <a:extLst xmlns:a="http://schemas.openxmlformats.org/drawingml/2006/main">
              <a:ext uri="{FF2B5EF4-FFF2-40B4-BE49-F238E27FC236}">
                <a16:creationId xmlns:a16="http://schemas.microsoft.com/office/drawing/2014/main" id="{4A98F25A-CC0F-4CA4-A560-99658D72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2578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025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Follow the clue into AR.</a:t>
            </a:r>
          </a:p>
        </p:txBody>
      </p:sp>
      <p:sp>
        <p:nvSpPr>
          <p:cNvPr id="9" name="3. Keep the memory">
            <a:extLst xmlns:a="http://schemas.openxmlformats.org/drawingml/2006/main">
              <a:ext uri="{FF2B5EF4-FFF2-40B4-BE49-F238E27FC236}">
                <a16:creationId xmlns:a16="http://schemas.microsoft.com/office/drawing/2014/main" id="{866F27A9-1CA4-4AFE-A149-7EA6D60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386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31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3. Keep the memory</a:t>
            </a:r>
          </a:p>
        </p:txBody>
      </p:sp>
      <p:sp>
        <p:nvSpPr>
          <p:cNvPr id="10" name="Collect a copy. Reveal the note.">
            <a:extLst xmlns:a="http://schemas.openxmlformats.org/drawingml/2006/main">
              <a:ext uri="{FF2B5EF4-FFF2-40B4-BE49-F238E27FC236}">
                <a16:creationId xmlns:a16="http://schemas.microsoft.com/office/drawing/2014/main" id="{DA6F7A4E-C13D-42B4-BF4C-389D9454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257800"/>
            <a:ext cx="3086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025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Collect a copy. Reveal the note.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3D7C98DC-295E-49B8-9E29-A4A052B9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04369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 game communities&#10;can make their own">
            <a:extLst xmlns:a="http://schemas.openxmlformats.org/drawingml/2006/main">
              <a:ext uri="{FF2B5EF4-FFF2-40B4-BE49-F238E27FC236}">
                <a16:creationId xmlns:a16="http://schemas.microsoft.com/office/drawing/2014/main" id="{51C40343-1D09-4F1A-95F2-5C3F39F4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"/>
            <a:ext cx="7334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75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4875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A game communities</a:t>
            </a:r>
          </a:p>
          <a:p xmlns:a="http://schemas.openxmlformats.org/drawingml/2006/main">
            <a:pPr>
              <a:defRPr sz="4875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4875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can make their own</a:t>
            </a:r>
          </a:p>
        </p:txBody>
      </p:sp>
      <p:sp>
        <p:nvSpPr>
          <p:cNvPr id="2" name="A conference’s gathering places">
            <a:extLst xmlns:a="http://schemas.openxmlformats.org/drawingml/2006/main">
              <a:ext uri="{FF2B5EF4-FFF2-40B4-BE49-F238E27FC236}">
                <a16:creationId xmlns:a16="http://schemas.microsoft.com/office/drawing/2014/main" id="{EB25EF99-2171-43B9-91BC-8818805B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A conference’s gathering places</a:t>
            </a:r>
          </a:p>
        </p:txBody>
      </p:sp>
      <p:sp>
        <p:nvSpPr>
          <p:cNvPr id="3" name="A neighbourhood’s art walk">
            <a:extLst xmlns:a="http://schemas.openxmlformats.org/drawingml/2006/main">
              <a:ext uri="{FF2B5EF4-FFF2-40B4-BE49-F238E27FC236}">
                <a16:creationId xmlns:a16="http://schemas.microsoft.com/office/drawing/2014/main" id="{779445B7-3F88-430F-9540-22C6C654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A neighbourhood’s art walk</a:t>
            </a:r>
          </a:p>
        </p:txBody>
      </p:sp>
      <p:sp>
        <p:nvSpPr>
          <p:cNvPr id="4" name="Shared discoveries give people&#10;a reason to meet and ret">
            <a:extLst xmlns:a="http://schemas.openxmlformats.org/drawingml/2006/main">
              <a:ext uri="{FF2B5EF4-FFF2-40B4-BE49-F238E27FC236}">
                <a16:creationId xmlns:a16="http://schemas.microsoft.com/office/drawing/2014/main" id="{AAE1A355-5482-43A5-9E57-31E21FAF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6715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2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Shared discoveries give people</a:t>
            </a:r>
          </a:p>
          <a:p xmlns:a="http://schemas.openxmlformats.org/drawingml/2006/main">
            <a:pPr>
              <a:defRPr sz="22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2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a reason to meet and return.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50bd71931491b"/>
          <a:stretch xmlns:a="http://schemas.openxmlformats.org/drawingml/2006/main"/>
        </p:blipFill>
        <p:spPr>
          <a:xfrm xmlns:a="http://schemas.openxmlformats.org/drawingml/2006/main">
            <a:off x="8582025" y="552548"/>
            <a:ext cx="2552700" cy="5524305"/>
          </a:xfrm>
          <a:prstGeom xmlns:a="http://schemas.openxmlformats.org/drawingml/2006/main" prst="rect">
            <a:avLst/>
          </a:prstGeom>
        </p:spPr>
      </p:pic>
      <p:sp>
        <p:nvSpPr>
          <p:cNvPr id="6" name="Proposed uses">
            <a:extLst xmlns:a="http://schemas.openxmlformats.org/drawingml/2006/main">
              <a:ext uri="{FF2B5EF4-FFF2-40B4-BE49-F238E27FC236}">
                <a16:creationId xmlns:a16="http://schemas.microsoft.com/office/drawing/2014/main" id="{A1633C06-2097-4D06-89F3-63CCA21B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05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Proposed uses</a:t>
            </a:r>
          </a:p>
        </p:txBody>
      </p:sp>
      <p:sp>
        <p:nvSpPr>
          <p:cNvPr id="7" name="UI preview / sample data">
            <a:extLst xmlns:a="http://schemas.openxmlformats.org/drawingml/2006/main">
              <a:ext uri="{FF2B5EF4-FFF2-40B4-BE49-F238E27FC236}">
                <a16:creationId xmlns:a16="http://schemas.microsoft.com/office/drawing/2014/main" id="{20B570B0-D4C2-4C0E-B0A9-8EB4735F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62293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275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UI preview / sample data</a:t>
            </a:r>
          </a:p>
        </p:txBody>
      </p:sp>
      <p:sp>
        <p:nvSpPr>
          <p:cNvPr id="8" name="05">
            <a:extLst xmlns:a="http://schemas.openxmlformats.org/drawingml/2006/main">
              <a:ext uri="{FF2B5EF4-FFF2-40B4-BE49-F238E27FC236}">
                <a16:creationId xmlns:a16="http://schemas.microsoft.com/office/drawing/2014/main" id="{40AD3E33-F284-4523-AB58-F33F30FB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8319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EMO">
            <a:extLst xmlns:a="http://schemas.openxmlformats.org/drawingml/2006/main">
              <a:ext uri="{FF2B5EF4-FFF2-40B4-BE49-F238E27FC236}">
                <a16:creationId xmlns:a16="http://schemas.microsoft.com/office/drawing/2014/main" id="{83F73773-390B-4EC6-9E99-E939EE74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24050"/>
            <a:ext cx="7143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112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DEMO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05a6edc574144"/>
          <a:stretch xmlns:a="http://schemas.openxmlformats.org/drawingml/2006/main"/>
        </p:blipFill>
        <p:spPr>
          <a:xfrm xmlns:a="http://schemas.openxmlformats.org/drawingml/2006/main">
            <a:off x="857250" y="3171825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3" name="A little discovery, in the real world">
            <a:extLst xmlns:a="http://schemas.openxmlformats.org/drawingml/2006/main">
              <a:ext uri="{FF2B5EF4-FFF2-40B4-BE49-F238E27FC236}">
                <a16:creationId xmlns:a16="http://schemas.microsoft.com/office/drawing/2014/main" id="{35C5B582-7AB1-487D-A94C-AFA1EA00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2672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2625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A little discovery, in the real world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F7BF55DD-4698-4AC0-93AC-DDCDD3D2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7900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ow it works">
            <a:extLst xmlns:a="http://schemas.openxmlformats.org/drawingml/2006/main">
              <a:ext uri="{FF2B5EF4-FFF2-40B4-BE49-F238E27FC236}">
                <a16:creationId xmlns:a16="http://schemas.microsoft.com/office/drawing/2014/main" id="{DA114AA5-DF08-4859-9099-0A823F01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6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1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51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How it works</a:t>
            </a:r>
          </a:p>
        </p:txBody>
      </p:sp>
      <p:sp>
        <p:nvSpPr>
          <p:cNvPr id="2" name="Unity + ARKit">
            <a:extLst xmlns:a="http://schemas.openxmlformats.org/drawingml/2006/main">
              <a:ext uri="{FF2B5EF4-FFF2-40B4-BE49-F238E27FC236}">
                <a16:creationId xmlns:a16="http://schemas.microsoft.com/office/drawing/2014/main" id="{E270149E-B20E-4D78-B0E8-780FB2FC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2882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33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Unity + ARKit</a:t>
            </a:r>
          </a:p>
        </p:txBody>
      </p:sp>
      <p:sp>
        <p:nvSpPr>
          <p:cNvPr id="3" name="Place and recover stickers in AR">
            <a:extLst xmlns:a="http://schemas.openxmlformats.org/drawingml/2006/main">
              <a:ext uri="{FF2B5EF4-FFF2-40B4-BE49-F238E27FC236}">
                <a16:creationId xmlns:a16="http://schemas.microsoft.com/office/drawing/2014/main" id="{5FB98EEA-2058-4937-9D59-58925D32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57475"/>
            <a:ext cx="723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2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Place and recover stickers in AR</a:t>
            </a:r>
          </a:p>
        </p:txBody>
      </p:sp>
      <p:sp>
        <p:nvSpPr>
          <p:cNvPr id="4" name="MapKit">
            <a:extLst xmlns:a="http://schemas.openxmlformats.org/drawingml/2006/main">
              <a:ext uri="{FF2B5EF4-FFF2-40B4-BE49-F238E27FC236}">
                <a16:creationId xmlns:a16="http://schemas.microsoft.com/office/drawing/2014/main" id="{2CC3A064-E996-40F5-AAE1-65AE305E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33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MapKit</a:t>
            </a:r>
          </a:p>
        </p:txBody>
      </p:sp>
      <p:sp>
        <p:nvSpPr>
          <p:cNvPr id="5" name="Nearby discovery on Apple’s maps">
            <a:extLst xmlns:a="http://schemas.openxmlformats.org/drawingml/2006/main">
              <a:ext uri="{FF2B5EF4-FFF2-40B4-BE49-F238E27FC236}">
                <a16:creationId xmlns:a16="http://schemas.microsoft.com/office/drawing/2014/main" id="{83A89081-2425-4DD0-849A-3DD7702F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723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2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Nearby discovery on Apple’s maps</a:t>
            </a:r>
          </a:p>
        </p:txBody>
      </p:sp>
      <p:sp>
        <p:nvSpPr>
          <p:cNvPr id="6" name="Firebase + Cloud Run">
            <a:extLst xmlns:a="http://schemas.openxmlformats.org/drawingml/2006/main">
              <a:ext uri="{FF2B5EF4-FFF2-40B4-BE49-F238E27FC236}">
                <a16:creationId xmlns:a16="http://schemas.microsoft.com/office/drawing/2014/main" id="{48EE7160-309A-441C-AE58-1961DABB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33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Firebase + Cloud Run</a:t>
            </a:r>
          </a:p>
        </p:txBody>
      </p:sp>
      <p:sp>
        <p:nvSpPr>
          <p:cNvPr id="7" name="Stickers, collections and private notes">
            <a:extLst xmlns:a="http://schemas.openxmlformats.org/drawingml/2006/main">
              <a:ext uri="{FF2B5EF4-FFF2-40B4-BE49-F238E27FC236}">
                <a16:creationId xmlns:a16="http://schemas.microsoft.com/office/drawing/2014/main" id="{EE1E599C-05D7-4E3B-BB7C-A5CE14B0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723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2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Stickers, collections and private notes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fd0be4e304e5f"/>
          <a:stretch xmlns:a="http://schemas.openxmlformats.org/drawingml/2006/main"/>
        </p:blipFill>
        <p:spPr>
          <a:xfrm xmlns:a="http://schemas.openxmlformats.org/drawingml/2006/main">
            <a:off x="8591550" y="1604963"/>
            <a:ext cx="2695575" cy="2695575"/>
          </a:xfrm>
          <a:prstGeom xmlns:a="http://schemas.openxmlformats.org/drawingml/2006/main" prst="rect">
            <a:avLst/>
          </a:prstGeom>
        </p:spPr>
      </p:pic>
      <p:sp>
        <p:nvSpPr>
          <p:cNvPr id="9" name="Optional Sepolia souvenirs">
            <a:extLst xmlns:a="http://schemas.openxmlformats.org/drawingml/2006/main">
              <a:ext uri="{FF2B5EF4-FFF2-40B4-BE49-F238E27FC236}">
                <a16:creationId xmlns:a16="http://schemas.microsoft.com/office/drawing/2014/main" id="{68A8A369-283B-4A27-AD41-137C8DF7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895850"/>
            <a:ext cx="3209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21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Optional Sepolia souvenirs</a:t>
            </a:r>
          </a:p>
        </p:txBody>
      </p:sp>
      <p:sp>
        <p:nvSpPr>
          <p:cNvPr id="10" name="Implemented, disabled&#10;pending verification">
            <a:extLst xmlns:a="http://schemas.openxmlformats.org/drawingml/2006/main">
              <a:ext uri="{FF2B5EF4-FFF2-40B4-BE49-F238E27FC236}">
                <a16:creationId xmlns:a16="http://schemas.microsoft.com/office/drawing/2014/main" id="{0D61EAC0-5942-4D80-85EF-C4CD3854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534025"/>
            <a:ext cx="3162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725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Implemented, disabled</a:t>
            </a:r>
          </a:p>
          <a:p xmlns:a="http://schemas.openxmlformats.org/drawingml/2006/main">
            <a:pPr>
              <a:defRPr sz="1725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725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pending verification</a:t>
            </a:r>
          </a:p>
        </p:txBody>
      </p:sp>
      <p:sp>
        <p:nvSpPr>
          <p:cNvPr id="11" name="07">
            <a:extLst xmlns:a="http://schemas.openxmlformats.org/drawingml/2006/main">
              <a:ext uri="{FF2B5EF4-FFF2-40B4-BE49-F238E27FC236}">
                <a16:creationId xmlns:a16="http://schemas.microsoft.com/office/drawing/2014/main" id="{7B03F588-47D2-4FAA-AEBB-08EA74C5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8083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he first&#10;community pilot">
            <a:extLst xmlns:a="http://schemas.openxmlformats.org/drawingml/2006/main">
              <a:ext uri="{FF2B5EF4-FFF2-40B4-BE49-F238E27FC236}">
                <a16:creationId xmlns:a16="http://schemas.microsoft.com/office/drawing/2014/main" id="{6251A9E7-4B4C-403B-82E1-5DD9C5C7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23900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75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5475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The first</a:t>
            </a:r>
          </a:p>
          <a:p xmlns:a="http://schemas.openxmlformats.org/drawingml/2006/main">
            <a:pPr>
              <a:defRPr sz="5475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5475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community pilot</a:t>
            </a:r>
          </a:p>
        </p:txBody>
      </p:sp>
      <p:sp>
        <p:nvSpPr>
          <p:cNvPr id="2" name="A small trail of meaningful places.&#10;Original stickers f">
            <a:extLst xmlns:a="http://schemas.openxmlformats.org/drawingml/2006/main">
              <a:ext uri="{FF2B5EF4-FFF2-40B4-BE49-F238E27FC236}">
                <a16:creationId xmlns:a16="http://schemas.microsoft.com/office/drawing/2014/main" id="{64AE01E9-247E-4162-877B-3B089ECD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72390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A small trail of meaningful places.</a:t>
            </a:r>
          </a:p>
          <a:p xmlns:a="http://schemas.openxmlformats.org/drawingml/2006/main">
            <a:pPr>
              <a:def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Original stickers from the community.</a:t>
            </a:r>
          </a:p>
          <a:p xmlns:a="http://schemas.openxmlformats.org/drawingml/2006/main">
            <a:pPr>
              <a:def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5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Real people trying the full journey.</a:t>
            </a:r>
          </a:p>
        </p:txBody>
      </p:sp>
      <p:sp>
        <p:nvSpPr>
          <p:cNvPr id="3" name="Learn: do people finish, and return?">
            <a:extLst xmlns:a="http://schemas.openxmlformats.org/drawingml/2006/main">
              <a:ext uri="{FF2B5EF4-FFF2-40B4-BE49-F238E27FC236}">
                <a16:creationId xmlns:a16="http://schemas.microsoft.com/office/drawing/2014/main" id="{3F505E17-E28A-4943-9FEF-23E10A88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9592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27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Learn: do people finish, and return?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63263997341bc"/>
          <a:stretch xmlns:a="http://schemas.openxmlformats.org/drawingml/2006/main"/>
        </p:blipFill>
        <p:spPr>
          <a:xfrm xmlns:a="http://schemas.openxmlformats.org/drawingml/2006/main">
            <a:off x="8858250" y="2905125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8F7D03B4-5160-4995-89F2-C2F37752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40668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ind your places.&#10;Collect your moments.">
            <a:extLst xmlns:a="http://schemas.openxmlformats.org/drawingml/2006/main">
              <a:ext uri="{FF2B5EF4-FFF2-40B4-BE49-F238E27FC236}">
                <a16:creationId xmlns:a16="http://schemas.microsoft.com/office/drawing/2014/main" id="{769309C9-E603-4DA0-837F-71CEC7F7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7725"/>
            <a:ext cx="8001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8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58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Find your places.</a:t>
            </a:r>
          </a:p>
          <a:p xmlns:a="http://schemas.openxmlformats.org/drawingml/2006/main">
            <a:pPr>
              <a:defRPr sz="58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585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Collect your moments.</a:t>
            </a:r>
          </a:p>
        </p:txBody>
      </p:sp>
      <p:sp>
        <p:nvSpPr>
          <p:cNvPr id="2" name="Let’s create the first&#10;community trail together.">
            <a:extLst xmlns:a="http://schemas.openxmlformats.org/drawingml/2006/main">
              <a:ext uri="{FF2B5EF4-FFF2-40B4-BE49-F238E27FC236}">
                <a16:creationId xmlns:a16="http://schemas.microsoft.com/office/drawing/2014/main" id="{ED2C1419-547F-4341-90AD-410D8A49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81425"/>
            <a:ext cx="704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8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Let’s create the first</a:t>
            </a:r>
          </a:p>
          <a:p xmlns:a="http://schemas.openxmlformats.org/drawingml/2006/main">
            <a:pPr>
              <a:defRPr sz="28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2850">
                <a:solidFill>
                  <a:srgbClr val="262623"/>
                </a:solidFill>
                <a:latin typeface="Instrument Sans"/>
                <a:ea typeface="Instrument Sans"/>
                <a:cs typeface="Instrument Sans"/>
              </a:rPr>
              <a:t>community trail together.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18a1e50544b70"/>
          <a:stretch xmlns:a="http://schemas.openxmlformats.org/drawingml/2006/main"/>
        </p:blipFill>
        <p:spPr>
          <a:xfrm xmlns:a="http://schemas.openxmlformats.org/drawingml/2006/main">
            <a:off x="8743950" y="3281363"/>
            <a:ext cx="2771775" cy="2771775"/>
          </a:xfrm>
          <a:prstGeom xmlns:a="http://schemas.openxmlformats.org/drawingml/2006/main" prst="rect">
            <a:avLst/>
          </a:prstGeom>
        </p:spPr>
      </p:pic>
      <p:sp>
        <p:nvSpPr>
          <p:cNvPr id="4" name="tagtag">
            <a:extLst xmlns:a="http://schemas.openxmlformats.org/drawingml/2006/main">
              <a:ext uri="{FF2B5EF4-FFF2-40B4-BE49-F238E27FC236}">
                <a16:creationId xmlns:a16="http://schemas.microsoft.com/office/drawing/2014/main" id="{8030A47F-5C5D-4F14-BFF4-44C2DAC0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62625"/>
            <a:ext cx="323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defRPr>
            </a:pPr>
            <a:r>
              <a:rPr sz="3900">
                <a:solidFill>
                  <a:srgbClr val="262623"/>
                </a:solidFill>
                <a:latin typeface="Shadows Into Light"/>
                <a:ea typeface="Shadows Into Light"/>
                <a:cs typeface="Shadows Into Light"/>
              </a:rPr>
              <a:t>tagtag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7B10D589-2869-4588-A13E-C016EB75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defRPr>
            </a:pPr>
            <a:r>
              <a:rPr sz="1350">
                <a:solidFill>
                  <a:srgbClr val="62625B"/>
                </a:solidFill>
                <a:latin typeface="Instrument Sans"/>
                <a:ea typeface="Instrument Sans"/>
                <a:cs typeface="Instrument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99272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2026-09-26T17:41:59.8890000Z</dcterms:created>
  <dcterms:modified xsi:type="dcterms:W3CDTF">2026-09-26T17:41:59.8890000Z</dcterms:modified>
</coreProperties>
</file>