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e314a5544141f2" /><Relationship Type="http://schemas.openxmlformats.org/officeDocument/2006/relationships/extended-properties" Target="/docProps/app.xml" Id="R46c526c9eb4a475d" /><Relationship Type="http://schemas.openxmlformats.org/officeDocument/2006/relationships/officeDocument" Target="/ppt/presentation.xml" Id="R9196716e73cd4c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d69f9edeaa4a06"/>
  </p:sldMasterIdLst>
  <p:notesMasterIdLst>
    <p:notesMasterId xmlns:r="http://schemas.openxmlformats.org/officeDocument/2006/relationships" r:id="R65f4ec0818a3488a"/>
  </p:notesMasterIdLst>
  <p:sldIdLst>
    <p:sldId xmlns:r="http://schemas.openxmlformats.org/officeDocument/2006/relationships" id="256" r:id="R35c321e3a7e54932"/>
    <p:sldId xmlns:r="http://schemas.openxmlformats.org/officeDocument/2006/relationships" id="257" r:id="R603bacd3b8ac4c80"/>
    <p:sldId xmlns:r="http://schemas.openxmlformats.org/officeDocument/2006/relationships" id="258" r:id="R74ae433359bd4be7"/>
    <p:sldId xmlns:r="http://schemas.openxmlformats.org/officeDocument/2006/relationships" id="259" r:id="R702d6a231bde4851"/>
    <p:sldId xmlns:r="http://schemas.openxmlformats.org/officeDocument/2006/relationships" id="260" r:id="R077217c3f93c4588"/>
    <p:sldId xmlns:r="http://schemas.openxmlformats.org/officeDocument/2006/relationships" id="261" r:id="Rf4fc5ba1d7354978"/>
    <p:sldId xmlns:r="http://schemas.openxmlformats.org/officeDocument/2006/relationships" id="262" r:id="Rf54c86c581474887"/>
    <p:sldId xmlns:r="http://schemas.openxmlformats.org/officeDocument/2006/relationships" id="263" r:id="R3336b9008e0948a1"/>
    <p:sldId xmlns:r="http://schemas.openxmlformats.org/officeDocument/2006/relationships" id="264" r:id="R0e253a46fb5246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d5df48ea034340" /><Relationship Type="http://schemas.openxmlformats.org/officeDocument/2006/relationships/slideMaster" Target="/ppt/slideMasters/slideMaster1.xml" Id="R38d69f9edeaa4a06" /><Relationship Type="http://schemas.openxmlformats.org/officeDocument/2006/relationships/notesMaster" Target="/ppt/notesMasters/notesMaster1.xml" Id="R65f4ec0818a3488a" /><Relationship Type="http://schemas.openxmlformats.org/officeDocument/2006/relationships/presProps" Target="/ppt/presProps.xml" Id="Re8d01bb7c5304b51" /><Relationship Type="http://schemas.openxmlformats.org/officeDocument/2006/relationships/tableStyles" Target="/ppt/tableStyles.xml" Id="R18160c579c5c4ae8" /><Relationship Type="http://schemas.openxmlformats.org/officeDocument/2006/relationships/slide" Target="/ppt/slides/slide1.xml" Id="R35c321e3a7e54932" /><Relationship Type="http://schemas.openxmlformats.org/officeDocument/2006/relationships/slide" Target="/ppt/slides/slide2.xml" Id="R603bacd3b8ac4c80" /><Relationship Type="http://schemas.openxmlformats.org/officeDocument/2006/relationships/slide" Target="/ppt/slides/slide3.xml" Id="R74ae433359bd4be7" /><Relationship Type="http://schemas.openxmlformats.org/officeDocument/2006/relationships/slide" Target="/ppt/slides/slide4.xml" Id="R702d6a231bde4851" /><Relationship Type="http://schemas.openxmlformats.org/officeDocument/2006/relationships/slide" Target="/ppt/slides/slide5.xml" Id="R077217c3f93c4588" /><Relationship Type="http://schemas.openxmlformats.org/officeDocument/2006/relationships/slide" Target="/ppt/slides/slide6.xml" Id="Rf4fc5ba1d7354978" /><Relationship Type="http://schemas.openxmlformats.org/officeDocument/2006/relationships/slide" Target="/ppt/slides/slide7.xml" Id="Rf54c86c581474887" /><Relationship Type="http://schemas.openxmlformats.org/officeDocument/2006/relationships/slide" Target="/ppt/slides/slide8.xml" Id="R3336b9008e0948a1" /><Relationship Type="http://schemas.openxmlformats.org/officeDocument/2006/relationships/slide" Target="/ppt/slides/slide9.xml" Id="R0e253a46fb5246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38651fb40541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f62b53f7ed40cd" /><Relationship Type="http://schemas.openxmlformats.org/officeDocument/2006/relationships/notesMaster" Target="/ppt/notesMasters/notesMaster1.xml" Id="R1c4076c3c2a943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ad710676e24817" /><Relationship Type="http://schemas.openxmlformats.org/officeDocument/2006/relationships/notesMaster" Target="/ppt/notesMasters/notesMaster1.xml" Id="R86c08e422bf244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488943bae74ece" /><Relationship Type="http://schemas.openxmlformats.org/officeDocument/2006/relationships/notesMaster" Target="/ppt/notesMasters/notesMaster1.xml" Id="Rd5e869c15a3f46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44328496a44746" /><Relationship Type="http://schemas.openxmlformats.org/officeDocument/2006/relationships/notesMaster" Target="/ppt/notesMasters/notesMaster1.xml" Id="R2a72c8bd006448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484aa03e2943f1" /><Relationship Type="http://schemas.openxmlformats.org/officeDocument/2006/relationships/notesMaster" Target="/ppt/notesMasters/notesMaster1.xml" Id="Rf174f92f996849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41107c15c64942" /><Relationship Type="http://schemas.openxmlformats.org/officeDocument/2006/relationships/notesMaster" Target="/ppt/notesMasters/notesMaster1.xml" Id="R929b082a209440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dab896903f4773" /><Relationship Type="http://schemas.openxmlformats.org/officeDocument/2006/relationships/notesMaster" Target="/ppt/notesMasters/notesMaster1.xml" Id="R0e9d726995b64c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e7c1c4460a4563" /><Relationship Type="http://schemas.openxmlformats.org/officeDocument/2006/relationships/notesMaster" Target="/ppt/notesMasters/notesMaster1.xml" Id="Raf55d81391064d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674f1854ce4a24" /><Relationship Type="http://schemas.openxmlformats.org/officeDocument/2006/relationships/notesMaster" Target="/ppt/notesMasters/notesMaster1.xml" Id="Rf87aaa4aacca44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0:00–0:15 · Slide 1 · tagtag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“What if your favourite places had something waiting for you? tagtag is an augmented reality collecting game that helps communities create discoveries worth sharing. Find new places. Collect your moments.”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0:15–0:45 · Slide 2 · Two inspirations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“POAP showed how a digital collectible can carry the memory of being there. Reports put its lifetime reach at nearly 7.6 million badges, created by more than 46,000 issuers.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Pokémon GO showed the joy of taking a collecting game into the real world. It gave people a reason to explore and meet in shared places.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tagtag brings those ideas together: discovery with something personal to keep.”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https://poap.xyz/ and https://thecoinomist.com/news/poap-to-shut-down-after-minting-7-6m-event-badges/ (3 August 2026). 46,210 counts issuers, not distinct event designs. Pokémon GO: https://pokemongo.com/en. These products inspired tagtag; no affiliation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0:45–1:05 · Slide 3 · A place has a story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“Think about a café you love, a corner of your campus, or a conversation at a hackathon. Each could hold a small discovery for the next person.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 want to give communities a playful way to share those places, with a keepsake that remembers the experience.”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1:05–1:30 · Slide 4 · The collecting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“A creator chooses a sticker, places it on a real surface in AR, and leaves a clue and a note.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 explorer follows a nearby map pin and looks for the sticker at that spot. Collecting adds a copy to their sticker book and reveals the note. The original stays there for someone else to discover.”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1:30–1:55 · Slide 5 · A game communities can make their own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“Imagine a conference where each community leaves a sticker at its gathering place. Or a neighbourhood walk curated by local artists.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community supplies the stories and the places. Players explore, collect, and share what they found. Those shared discoveries give people a reason to meet and a reason to return. These are the experiences we want to test next.”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1:55–3:10 · Slide 6 · 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Switch to the mirrored iPhone at **1:55**. Keep this as one dedicated DEMO slide. Use a prepared location and a short note to avoid spending time typing.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Time | Action | Spoken words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1:55–2:05 | Show the sticker book, then open STICK. | “Here’s tagtag. This is my sticker book, and I’m going to leave a little discovery.” |</a:t>
            </a:r>
          </a:p>
          <a:p xmlns:a="http://schemas.openxmlformats.org/drawingml/2006/main">
            <a:r>
              <a:t>| 2:05–2:25 | Choose artwork, scan a surface, and place it. | “I choose Taggi, find a surface, and place the sticker. I can move it, resize it, and rotate it so it belongs in this spot.” |</a:t>
            </a:r>
          </a:p>
          <a:p xmlns:a="http://schemas.openxmlformats.org/drawingml/2006/main">
            <a:r>
              <a:t>| 2:25–2:45 | Show the clue, note, and publishing flow. | “I add a clue for the explorer and a note to reveal after collection. The app saves the placement and a reference photo to help someone find the same spot.” |</a:t>
            </a:r>
          </a:p>
          <a:p xmlns:a="http://schemas.openxmlformats.org/drawingml/2006/main">
            <a:r>
              <a:t>| 2:45–3:00 | Open Explore and show the placement’s pin and teaser. | “Now the discovery has a place on the map. This is the invitation to come and look.” |</a:t>
            </a:r>
          </a:p>
          <a:p xmlns:a="http://schemas.openxmlformats.org/drawingml/2006/main">
            <a:r>
              <a:t>| 3:00–3:10 | If verified, show a second phone collecting. Otherwise show the collection UI and use the fallback below. | Verified: “On the finder’s phone, collecting adds a copy to the book and reveals the note. The original remains for the next visitor.”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 for the final ten seconds:** “This is the collection interface. The complete journey between two phones is our next device test.” Do not present a simulated screen or a prepared book entry as a successful live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tracking or uploading takes too long, say “This step is still processing; I’ll show the saved placement,” and move to a known placement. Return to the deck at **3:10**. Do not accelerate the footage.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3:10–3:35 · Slide 7 · How it works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“We built the iPhone experience in Unity with ARKit, and use Apple’s maps for nearby discovery. Firebase and our Cloud Run API store stickers, collections, and private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 have also implemented on chain souvenirs, bringing the idea of digital keepsakes into tagtag. The collecting experience works without a blockchain transaction.”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3:35–3:50 · Slide 8 · The first community pilot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“Next, we want to run a small community trail: a handful of meaningful places, a set of original stickers, and real people trying the full journey. We’ll learn whether they finish the trail and come back for another.”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3:50–4:00 · Slide 9 · Find your places. Collect your moments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“tagtag turns places into invitations, and discoveries into keepsakes. We’re looking for a community to create the first trail with us. Thank you.”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Recording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Use your own voice, clear audio without music, and at least 720p. Keep the final export between 2:00 and 4:00. Aim to finish speech a few seconds before 4:00 so the final cut stays within the limit.</a:t>
            </a:r>
          </a:p>
          <a:p xmlns:a="http://schemas.openxmlformats.org/drawingml/2006/main">
            <a:r>
              <a:t>- Slide 6 reserves 75 seconds, including interaction and pauses. Keep the closing at 3:50 even if the demo runs slowly.</a:t>
            </a:r>
          </a:p>
          <a:p xmlns:a="http://schemas.openxmlformats.org/drawingml/2006/main">
            <a:r>
              <a:t>- Community trails are a proposed pilot, not current customers, traction, or a finished campaign-management product.</a:t>
            </a:r>
          </a:p>
          <a:p xmlns:a="http://schemas.openxmlformats.org/drawingml/2006/main">
            <a:r>
              <a:t>- The app screenshots in the deck are simulator/UI fixture captures. Their counts are sample data, not user or usage metrics.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Sources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[POAP’s own description](https://poap.xyz/): collecting memories and connecting communities.</a:t>
            </a:r>
          </a:p>
          <a:p xmlns:a="http://schemas.openxmlformats.org/drawingml/2006/main">
            <a:r>
              <a:t>- [Reported POAP totals, 3 August 2026](https://thecoinomist.com/news/poap-to-shut-down-after-minting-7-6m-event-badges/): nearly 7.6 million badges and over 46,210 issuers. **Issuers** is the reported unit, not distinct badge designs. These are historical totals, not a live counter.</a:t>
            </a:r>
          </a:p>
          <a:p xmlns:a="http://schemas.openxmlformats.org/drawingml/2006/main">
            <a:r>
              <a:t>- [Pokémon GO](https://pokemongo.com/en): real-world collecting and exploration. No player-count claim appears in the deck.</a:t>
            </a:r>
          </a:p>
          <a:p xmlns:a="http://schemas.openxmlformats.org/drawingml/2006/main">
            <a:r>
              <a:t>- [Project description and evidence](../SUBMISSION.md), [feature readiness](../../FEATURE_READINESS.md), and [screenshot provenance](../SCREENSHOTS.md).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9b01f7bdd54c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8133236b354691" /><Relationship Type="http://schemas.openxmlformats.org/officeDocument/2006/relationships/slideLayout" Target="/ppt/slideLayouts/slideLayout1.xml" Id="Rb41c1b82dbf149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1c1b82dbf149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66b62a8d8496a" /><Relationship Type="http://schemas.openxmlformats.org/officeDocument/2006/relationships/image" Target="/ppt/media/image.png" Id="Red37c314f9154145" /><Relationship Type="http://schemas.openxmlformats.org/officeDocument/2006/relationships/notesSlide" Target="/ppt/notesSlides/notesSlide1.xml" Id="R65f6d06d61764e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a068c64d440d2" /><Relationship Type="http://schemas.openxmlformats.org/officeDocument/2006/relationships/image" Target="/ppt/media/image2.png" Id="R97918b239304439d" /><Relationship Type="http://schemas.openxmlformats.org/officeDocument/2006/relationships/notesSlide" Target="/ppt/notesSlides/notesSlide2.xml" Id="Ra1ec22f6e5f845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6909caa844d97" /><Relationship Type="http://schemas.openxmlformats.org/officeDocument/2006/relationships/image" Target="/ppt/media/image3.png" Id="R3e77c26f9bdd4d6d" /><Relationship Type="http://schemas.openxmlformats.org/officeDocument/2006/relationships/notesSlide" Target="/ppt/notesSlides/notesSlide3.xml" Id="Rb7db4b24215a48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41347470a14b29" /><Relationship Type="http://schemas.openxmlformats.org/officeDocument/2006/relationships/image" Target="/ppt/media/image4.png" Id="R0c29938816dc4fc2" /><Relationship Type="http://schemas.openxmlformats.org/officeDocument/2006/relationships/image" Target="/ppt/media/image5.png" Id="Rbd97362787d9428e" /><Relationship Type="http://schemas.openxmlformats.org/officeDocument/2006/relationships/image" Target="/ppt/media/image6.png" Id="Rf71839c5f2ef4c0b" /><Relationship Type="http://schemas.openxmlformats.org/officeDocument/2006/relationships/notesSlide" Target="/ppt/notesSlides/notesSlide4.xml" Id="Ra11bd81be05047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a8eca80f542b3" /><Relationship Type="http://schemas.openxmlformats.org/officeDocument/2006/relationships/image" Target="/ppt/media/image7.png" Id="Ra977a76cea164b80" /><Relationship Type="http://schemas.openxmlformats.org/officeDocument/2006/relationships/notesSlide" Target="/ppt/notesSlides/notesSlide5.xml" Id="R0509b389af9041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c3c7adbf74f6a" /><Relationship Type="http://schemas.openxmlformats.org/officeDocument/2006/relationships/image" Target="/ppt/media/image8.png" Id="Rcc23d120dce840d1" /><Relationship Type="http://schemas.openxmlformats.org/officeDocument/2006/relationships/notesSlide" Target="/ppt/notesSlides/notesSlide6.xml" Id="Rb9bce5df724448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f484c5fea4d2a" /><Relationship Type="http://schemas.openxmlformats.org/officeDocument/2006/relationships/image" Target="/ppt/media/image9.png" Id="R88078efe2c984adf" /><Relationship Type="http://schemas.openxmlformats.org/officeDocument/2006/relationships/notesSlide" Target="/ppt/notesSlides/notesSlide7.xml" Id="Re662b64a8dfc49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3ef13826f042c8" /><Relationship Type="http://schemas.openxmlformats.org/officeDocument/2006/relationships/image" Target="/ppt/media/image10.png" Id="R4cb7686256d84a42" /><Relationship Type="http://schemas.openxmlformats.org/officeDocument/2006/relationships/notesSlide" Target="/ppt/notesSlides/notesSlide8.xml" Id="Rbb91d551310e4f3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942dc07e04c6d" /><Relationship Type="http://schemas.openxmlformats.org/officeDocument/2006/relationships/image" Target="/ppt/media/image11.png" Id="Rffc17253342b4880" /><Relationship Type="http://schemas.openxmlformats.org/officeDocument/2006/relationships/notesSlide" Target="/ppt/notesSlides/notesSlide9.xml" Id="R8ec9af055b6b46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agtag">
            <a:extLst xmlns:a="http://schemas.openxmlformats.org/drawingml/2006/main">
              <a:ext uri="{FF2B5EF4-FFF2-40B4-BE49-F238E27FC236}">
                <a16:creationId xmlns:a16="http://schemas.microsoft.com/office/drawing/2014/main" id="{B265EEDE-2472-4BD1-8AF3-0A3F7609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"/>
            <a:ext cx="59055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11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tagtag</a:t>
            </a:r>
          </a:p>
        </p:txBody>
      </p:sp>
      <p:sp>
        <p:nvSpPr>
          <p:cNvPr id="2" name="An AR collecting game&#10;for communities">
            <a:extLst xmlns:a="http://schemas.openxmlformats.org/drawingml/2006/main">
              <a:ext uri="{FF2B5EF4-FFF2-40B4-BE49-F238E27FC236}">
                <a16:creationId xmlns:a16="http://schemas.microsoft.com/office/drawing/2014/main" id="{F4721F0F-36B1-4D25-8FAF-56308F0F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6286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An AR collecting game</a:t>
            </a:r>
          </a:p>
          <a:p xmlns:a="http://schemas.openxmlformats.org/drawingml/2006/main">
            <a:pPr>
              <a:def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for communities</a:t>
            </a:r>
          </a:p>
        </p:txBody>
      </p:sp>
      <p:sp>
        <p:nvSpPr>
          <p:cNvPr id="3" name="Find new places. Collect your moments">
            <a:extLst xmlns:a="http://schemas.openxmlformats.org/drawingml/2006/main">
              <a:ext uri="{FF2B5EF4-FFF2-40B4-BE49-F238E27FC236}">
                <a16:creationId xmlns:a16="http://schemas.microsoft.com/office/drawing/2014/main" id="{52E10A72-F491-4D35-9F9E-BCC4C2F2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262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Find new places. Collect your moments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7c314f9154145"/>
          <a:stretch xmlns:a="http://schemas.openxmlformats.org/drawingml/2006/main"/>
        </p:blipFill>
        <p:spPr>
          <a:xfrm xmlns:a="http://schemas.openxmlformats.org/drawingml/2006/main">
            <a:off x="7429500" y="1438275"/>
            <a:ext cx="3905250" cy="3905250"/>
          </a:xfrm>
          <a:prstGeom xmlns:a="http://schemas.openxmlformats.org/drawingml/2006/main" prst="rect">
            <a:avLst/>
          </a:prstGeom>
        </p:spPr>
      </p:pic>
      <p:sp>
        <p:nvSpPr>
          <p:cNvPr id="5" name="ETHGlobal Tokyo 2026">
            <a:extLst xmlns:a="http://schemas.openxmlformats.org/drawingml/2006/main">
              <a:ext uri="{FF2B5EF4-FFF2-40B4-BE49-F238E27FC236}">
                <a16:creationId xmlns:a16="http://schemas.microsoft.com/office/drawing/2014/main" id="{6558B119-7BB1-4410-BE6C-03D60671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912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50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ETHGlobal Tokyo 2026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460D2B6F-0A9B-4E62-AF41-65F36AC8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295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wo inspirations">
            <a:extLst xmlns:a="http://schemas.openxmlformats.org/drawingml/2006/main">
              <a:ext uri="{FF2B5EF4-FFF2-40B4-BE49-F238E27FC236}">
                <a16:creationId xmlns:a16="http://schemas.microsoft.com/office/drawing/2014/main" id="{BEE04054-396F-49B6-B529-8F005325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"/>
            <a:ext cx="10096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Two inspirations</a:t>
            </a:r>
          </a:p>
        </p:txBody>
      </p:sp>
      <p:sp>
        <p:nvSpPr>
          <p:cNvPr id="2" name="POAP">
            <a:extLst xmlns:a="http://schemas.openxmlformats.org/drawingml/2006/main">
              <a:ext uri="{FF2B5EF4-FFF2-40B4-BE49-F238E27FC236}">
                <a16:creationId xmlns:a16="http://schemas.microsoft.com/office/drawing/2014/main" id="{BCDC3154-5CF3-4B97-90D0-806B7C78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7642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3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43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POAP</a:t>
            </a:r>
          </a:p>
        </p:txBody>
      </p:sp>
      <p:sp>
        <p:nvSpPr>
          <p:cNvPr id="3" name="Memories worth keeping">
            <a:extLst xmlns:a="http://schemas.openxmlformats.org/drawingml/2006/main">
              <a:ext uri="{FF2B5EF4-FFF2-40B4-BE49-F238E27FC236}">
                <a16:creationId xmlns:a16="http://schemas.microsoft.com/office/drawing/2014/main" id="{248A5AF2-B7D2-4F94-B267-E8068629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1462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Memories worth keeping</a:t>
            </a:r>
          </a:p>
        </p:txBody>
      </p:sp>
      <p:sp>
        <p:nvSpPr>
          <p:cNvPr id="4" name="~7.6 million">
            <a:extLst xmlns:a="http://schemas.openxmlformats.org/drawingml/2006/main">
              <a:ext uri="{FF2B5EF4-FFF2-40B4-BE49-F238E27FC236}">
                <a16:creationId xmlns:a16="http://schemas.microsoft.com/office/drawing/2014/main" id="{A1A7ECBB-9DEF-4035-80FF-10E8616B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6004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40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~7.6 million</a:t>
            </a:r>
          </a:p>
        </p:txBody>
      </p:sp>
      <p:sp>
        <p:nvSpPr>
          <p:cNvPr id="5" name="badges minted">
            <a:extLst xmlns:a="http://schemas.openxmlformats.org/drawingml/2006/main">
              <a:ext uri="{FF2B5EF4-FFF2-40B4-BE49-F238E27FC236}">
                <a16:creationId xmlns:a16="http://schemas.microsoft.com/office/drawing/2014/main" id="{913A7C61-86F1-41B0-9422-58C74D41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37197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9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badges minted</a:t>
            </a:r>
          </a:p>
        </p:txBody>
      </p:sp>
      <p:sp>
        <p:nvSpPr>
          <p:cNvPr id="6" name="46,210+ issuers">
            <a:extLst xmlns:a="http://schemas.openxmlformats.org/drawingml/2006/main">
              <a:ext uri="{FF2B5EF4-FFF2-40B4-BE49-F238E27FC236}">
                <a16:creationId xmlns:a16="http://schemas.microsoft.com/office/drawing/2014/main" id="{B62F11BD-EBBF-4735-8462-34FAFD7B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962525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46,210+ issuers</a:t>
            </a:r>
          </a:p>
        </p:txBody>
      </p:sp>
      <p:sp>
        <p:nvSpPr>
          <p:cNvPr id="7" name="Pokémon GO">
            <a:extLst xmlns:a="http://schemas.openxmlformats.org/drawingml/2006/main">
              <a:ext uri="{FF2B5EF4-FFF2-40B4-BE49-F238E27FC236}">
                <a16:creationId xmlns:a16="http://schemas.microsoft.com/office/drawing/2014/main" id="{5FF8E7DD-4E53-40C3-8769-0AEADE8B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7642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3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43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Pokémon GO</a:t>
            </a:r>
          </a:p>
        </p:txBody>
      </p:sp>
      <p:sp>
        <p:nvSpPr>
          <p:cNvPr id="8" name="Discovery worth&#10;going out for">
            <a:extLst xmlns:a="http://schemas.openxmlformats.org/drawingml/2006/main">
              <a:ext uri="{FF2B5EF4-FFF2-40B4-BE49-F238E27FC236}">
                <a16:creationId xmlns:a16="http://schemas.microsoft.com/office/drawing/2014/main" id="{93633190-66A6-4DCF-B9DA-E46F61CE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714625"/>
            <a:ext cx="428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70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Discovery worth</a:t>
            </a:r>
          </a:p>
          <a:p xmlns:a="http://schemas.openxmlformats.org/drawingml/2006/main">
            <a:pPr>
              <a:defRPr sz="270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70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going out for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18b239304439d"/>
          <a:stretch xmlns:a="http://schemas.openxmlformats.org/drawingml/2006/main"/>
        </p:blipFill>
        <p:spPr>
          <a:xfrm xmlns:a="http://schemas.openxmlformats.org/drawingml/2006/main">
            <a:off x="8848725" y="4000500"/>
            <a:ext cx="2219325" cy="2219325"/>
          </a:xfrm>
          <a:prstGeom xmlns:a="http://schemas.openxmlformats.org/drawingml/2006/main" prst="rect">
            <a:avLst/>
          </a:prstGeom>
        </p:spPr>
      </p:pic>
      <p:sp>
        <p:nvSpPr>
          <p:cNvPr id="10" name="Historical totals reported August 2026">
            <a:extLst xmlns:a="http://schemas.openxmlformats.org/drawingml/2006/main">
              <a:ext uri="{FF2B5EF4-FFF2-40B4-BE49-F238E27FC236}">
                <a16:creationId xmlns:a16="http://schemas.microsoft.com/office/drawing/2014/main" id="{0F48F550-986A-42F5-87B0-73EB0FFF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10275"/>
            <a:ext cx="733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42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Historical totals reported August 2026</a:t>
            </a:r>
          </a:p>
        </p:txBody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7046FFFA-AFC4-49B0-B7DF-A3E644C8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983265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77c26f9bdd4d6d"/>
          <a:stretch xmlns:a="http://schemas.openxmlformats.org/drawingml/2006/main"/>
        </p:blipFill>
        <p:spPr>
          <a:xfrm xmlns:a="http://schemas.openxmlformats.org/drawingml/2006/main">
            <a:off x="800100" y="896239"/>
            <a:ext cx="2762250" cy="4913122"/>
          </a:xfrm>
          <a:prstGeom xmlns:a="http://schemas.openxmlformats.org/drawingml/2006/main" prst="rect">
            <a:avLst/>
          </a:prstGeom>
        </p:spPr>
      </p:pic>
      <p:sp>
        <p:nvSpPr>
          <p:cNvPr id="2" name="A place has&#10;a story">
            <a:extLst xmlns:a="http://schemas.openxmlformats.org/drawingml/2006/main">
              <a:ext uri="{FF2B5EF4-FFF2-40B4-BE49-F238E27FC236}">
                <a16:creationId xmlns:a16="http://schemas.microsoft.com/office/drawing/2014/main" id="{C919D032-308E-46E4-A7AA-7299AFF7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181100"/>
            <a:ext cx="6667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6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6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A place has</a:t>
            </a:r>
          </a:p>
          <a:p xmlns:a="http://schemas.openxmlformats.org/drawingml/2006/main">
            <a:pPr>
              <a:defRPr sz="6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6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a story</a:t>
            </a:r>
          </a:p>
        </p:txBody>
      </p:sp>
      <p:sp>
        <p:nvSpPr>
          <p:cNvPr id="3" name="Leave a little discovery&#10;for the next person.">
            <a:extLst xmlns:a="http://schemas.openxmlformats.org/drawingml/2006/main">
              <a:ext uri="{FF2B5EF4-FFF2-40B4-BE49-F238E27FC236}">
                <a16:creationId xmlns:a16="http://schemas.microsoft.com/office/drawing/2014/main" id="{7450293D-EF29-40B2-A312-7A662718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57625"/>
            <a:ext cx="6572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Leave a little discovery</a:t>
            </a:r>
          </a:p>
          <a:p xmlns:a="http://schemas.openxmlformats.org/drawingml/2006/main">
            <a:pPr>
              <a:def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31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for the next person.</a:t>
            </a:r>
          </a:p>
        </p:txBody>
      </p:sp>
      <p:sp>
        <p:nvSpPr>
          <p:cNvPr id="4" name="App preview from iOS Simulator">
            <a:extLst xmlns:a="http://schemas.openxmlformats.org/drawingml/2006/main">
              <a:ext uri="{FF2B5EF4-FFF2-40B4-BE49-F238E27FC236}">
                <a16:creationId xmlns:a16="http://schemas.microsoft.com/office/drawing/2014/main" id="{1BD34850-ACEF-496B-B393-3D3F80EA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372225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App preview from iOS Simulator</a:t>
            </a:r>
          </a:p>
        </p:txBody>
      </p:sp>
      <p:sp>
        <p:nvSpPr>
          <p:cNvPr id="5" name="03">
            <a:extLst xmlns:a="http://schemas.openxmlformats.org/drawingml/2006/main">
              <a:ext uri="{FF2B5EF4-FFF2-40B4-BE49-F238E27FC236}">
                <a16:creationId xmlns:a16="http://schemas.microsoft.com/office/drawing/2014/main" id="{27245585-C5BE-4A67-849D-43AEB458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273044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ollecting loop">
            <a:extLst xmlns:a="http://schemas.openxmlformats.org/drawingml/2006/main">
              <a:ext uri="{FF2B5EF4-FFF2-40B4-BE49-F238E27FC236}">
                <a16:creationId xmlns:a16="http://schemas.microsoft.com/office/drawing/2014/main" id="{5C7D8944-6FE9-4D13-A391-EF18D72F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The collecting loop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29938816dc4fc2"/>
          <a:stretch xmlns:a="http://schemas.openxmlformats.org/drawingml/2006/main"/>
        </p:blipFill>
        <p:spPr>
          <a:xfrm xmlns:a="http://schemas.openxmlformats.org/drawingml/2006/main">
            <a:off x="1171575" y="1862138"/>
            <a:ext cx="2152650" cy="215265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7362787d9428e"/>
          <a:stretch xmlns:a="http://schemas.openxmlformats.org/drawingml/2006/main"/>
        </p:blipFill>
        <p:spPr>
          <a:xfrm xmlns:a="http://schemas.openxmlformats.org/drawingml/2006/main">
            <a:off x="4991100" y="1771650"/>
            <a:ext cx="2238375" cy="223837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1839c5f2ef4c0b"/>
          <a:stretch xmlns:a="http://schemas.openxmlformats.org/drawingml/2006/main"/>
        </p:blipFill>
        <p:spPr>
          <a:xfrm xmlns:a="http://schemas.openxmlformats.org/drawingml/2006/main">
            <a:off x="8829675" y="1866900"/>
            <a:ext cx="2143125" cy="2143125"/>
          </a:xfrm>
          <a:prstGeom xmlns:a="http://schemas.openxmlformats.org/drawingml/2006/main" prst="rect">
            <a:avLst/>
          </a:prstGeom>
        </p:spPr>
      </p:pic>
      <p:sp>
        <p:nvSpPr>
          <p:cNvPr id="5" name="1. Leave a sticker">
            <a:extLst xmlns:a="http://schemas.openxmlformats.org/drawingml/2006/main">
              <a:ext uri="{FF2B5EF4-FFF2-40B4-BE49-F238E27FC236}">
                <a16:creationId xmlns:a16="http://schemas.microsoft.com/office/drawing/2014/main" id="{60CEAB00-3830-45DD-90C8-6D1685A7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38650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1. Leave a sticker</a:t>
            </a:r>
          </a:p>
        </p:txBody>
      </p:sp>
      <p:sp>
        <p:nvSpPr>
          <p:cNvPr id="6" name="Art, a place, a private note.">
            <a:extLst xmlns:a="http://schemas.openxmlformats.org/drawingml/2006/main">
              <a:ext uri="{FF2B5EF4-FFF2-40B4-BE49-F238E27FC236}">
                <a16:creationId xmlns:a16="http://schemas.microsoft.com/office/drawing/2014/main" id="{00192C53-E138-4800-8B15-0DDE0151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2578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Art, a place, a private note.</a:t>
            </a:r>
          </a:p>
        </p:txBody>
      </p:sp>
      <p:sp>
        <p:nvSpPr>
          <p:cNvPr id="7" name="2. Find its place">
            <a:extLst xmlns:a="http://schemas.openxmlformats.org/drawingml/2006/main">
              <a:ext uri="{FF2B5EF4-FFF2-40B4-BE49-F238E27FC236}">
                <a16:creationId xmlns:a16="http://schemas.microsoft.com/office/drawing/2014/main" id="{19A77F70-A59F-477F-91A7-73F8D415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438650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2. Find its place</a:t>
            </a:r>
          </a:p>
        </p:txBody>
      </p:sp>
      <p:sp>
        <p:nvSpPr>
          <p:cNvPr id="8" name="Follow the clue into AR.">
            <a:extLst xmlns:a="http://schemas.openxmlformats.org/drawingml/2006/main">
              <a:ext uri="{FF2B5EF4-FFF2-40B4-BE49-F238E27FC236}">
                <a16:creationId xmlns:a16="http://schemas.microsoft.com/office/drawing/2014/main" id="{FDDE9F01-E091-4D72-B683-64FCB638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2578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Follow the clue into AR.</a:t>
            </a:r>
          </a:p>
        </p:txBody>
      </p:sp>
      <p:sp>
        <p:nvSpPr>
          <p:cNvPr id="9" name="3. Keep the memory">
            <a:extLst xmlns:a="http://schemas.openxmlformats.org/drawingml/2006/main">
              <a:ext uri="{FF2B5EF4-FFF2-40B4-BE49-F238E27FC236}">
                <a16:creationId xmlns:a16="http://schemas.microsoft.com/office/drawing/2014/main" id="{8326014A-D33F-4D7B-BA68-76F41B17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438650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1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3. Keep the memory</a:t>
            </a:r>
          </a:p>
        </p:txBody>
      </p:sp>
      <p:sp>
        <p:nvSpPr>
          <p:cNvPr id="10" name="Collect a copy. Reveal the note.">
            <a:extLst xmlns:a="http://schemas.openxmlformats.org/drawingml/2006/main">
              <a:ext uri="{FF2B5EF4-FFF2-40B4-BE49-F238E27FC236}">
                <a16:creationId xmlns:a16="http://schemas.microsoft.com/office/drawing/2014/main" id="{31D27B99-23FB-42C2-9FE4-BF585115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7800"/>
            <a:ext cx="3086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025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Collect a copy. Reveal the note.</a:t>
            </a:r>
          </a:p>
        </p:txBody>
      </p:sp>
      <p:sp>
        <p:nvSpPr>
          <p:cNvPr id="11" name="04">
            <a:extLst xmlns:a="http://schemas.openxmlformats.org/drawingml/2006/main">
              <a:ext uri="{FF2B5EF4-FFF2-40B4-BE49-F238E27FC236}">
                <a16:creationId xmlns:a16="http://schemas.microsoft.com/office/drawing/2014/main" id="{A6EE8A9A-9053-4E29-81FF-0D117A4F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397681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 game communities&#10;can make their own">
            <a:extLst xmlns:a="http://schemas.openxmlformats.org/drawingml/2006/main">
              <a:ext uri="{FF2B5EF4-FFF2-40B4-BE49-F238E27FC236}">
                <a16:creationId xmlns:a16="http://schemas.microsoft.com/office/drawing/2014/main" id="{EEDC5D0B-CB00-4223-8445-D69D4E0D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90575"/>
            <a:ext cx="7334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8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48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A game communities</a:t>
            </a:r>
          </a:p>
          <a:p xmlns:a="http://schemas.openxmlformats.org/drawingml/2006/main">
            <a:pPr>
              <a:defRPr sz="48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48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can make their own</a:t>
            </a:r>
          </a:p>
        </p:txBody>
      </p:sp>
      <p:sp>
        <p:nvSpPr>
          <p:cNvPr id="2" name="A conference’s gathering places">
            <a:extLst xmlns:a="http://schemas.openxmlformats.org/drawingml/2006/main">
              <a:ext uri="{FF2B5EF4-FFF2-40B4-BE49-F238E27FC236}">
                <a16:creationId xmlns:a16="http://schemas.microsoft.com/office/drawing/2014/main" id="{B80F441D-AB7F-4AFC-968E-5052AA53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695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 conference’s gathering places</a:t>
            </a:r>
          </a:p>
        </p:txBody>
      </p:sp>
      <p:sp>
        <p:nvSpPr>
          <p:cNvPr id="3" name="A neighbourhood’s art walk">
            <a:extLst xmlns:a="http://schemas.openxmlformats.org/drawingml/2006/main">
              <a:ext uri="{FF2B5EF4-FFF2-40B4-BE49-F238E27FC236}">
                <a16:creationId xmlns:a16="http://schemas.microsoft.com/office/drawing/2014/main" id="{990062D2-C1CA-4CA5-80AD-32C6F874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695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 neighbourhood’s art walk</a:t>
            </a:r>
          </a:p>
        </p:txBody>
      </p:sp>
      <p:sp>
        <p:nvSpPr>
          <p:cNvPr id="4" name="Shared discoveries give people&#10;a reason to meet and ret">
            <a:extLst xmlns:a="http://schemas.openxmlformats.org/drawingml/2006/main">
              <a:ext uri="{FF2B5EF4-FFF2-40B4-BE49-F238E27FC236}">
                <a16:creationId xmlns:a16="http://schemas.microsoft.com/office/drawing/2014/main" id="{5DBB5FE5-E433-433E-BBA5-1359D13B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6715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Shared discoveries give people</a:t>
            </a:r>
          </a:p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 reason to meet and return.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7a76cea164b80"/>
          <a:stretch xmlns:a="http://schemas.openxmlformats.org/drawingml/2006/main"/>
        </p:blipFill>
        <p:spPr>
          <a:xfrm xmlns:a="http://schemas.openxmlformats.org/drawingml/2006/main">
            <a:off x="8582025" y="552548"/>
            <a:ext cx="2552700" cy="5524305"/>
          </a:xfrm>
          <a:prstGeom xmlns:a="http://schemas.openxmlformats.org/drawingml/2006/main" prst="rect">
            <a:avLst/>
          </a:prstGeom>
        </p:spPr>
      </p:pic>
      <p:sp>
        <p:nvSpPr>
          <p:cNvPr id="6" name="Proposed uses">
            <a:extLst xmlns:a="http://schemas.openxmlformats.org/drawingml/2006/main">
              <a:ext uri="{FF2B5EF4-FFF2-40B4-BE49-F238E27FC236}">
                <a16:creationId xmlns:a16="http://schemas.microsoft.com/office/drawing/2014/main" id="{6AFA089C-249D-4C57-B5DB-6E5529AF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05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Proposed uses</a:t>
            </a:r>
          </a:p>
        </p:txBody>
      </p:sp>
      <p:sp>
        <p:nvSpPr>
          <p:cNvPr id="7" name="UI preview / sample data">
            <a:extLst xmlns:a="http://schemas.openxmlformats.org/drawingml/2006/main">
              <a:ext uri="{FF2B5EF4-FFF2-40B4-BE49-F238E27FC236}">
                <a16:creationId xmlns:a16="http://schemas.microsoft.com/office/drawing/2014/main" id="{4526414A-01E8-4B22-B5DA-599CB6D1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6229350"/>
            <a:ext cx="2619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27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UI preview / sample data</a:t>
            </a:r>
          </a:p>
        </p:txBody>
      </p:sp>
      <p:sp>
        <p:nvSpPr>
          <p:cNvPr id="8" name="05">
            <a:extLst xmlns:a="http://schemas.openxmlformats.org/drawingml/2006/main">
              <a:ext uri="{FF2B5EF4-FFF2-40B4-BE49-F238E27FC236}">
                <a16:creationId xmlns:a16="http://schemas.microsoft.com/office/drawing/2014/main" id="{8DF2678A-88C2-43DB-98F3-3F11D47D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750185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DEMO">
            <a:extLst xmlns:a="http://schemas.openxmlformats.org/drawingml/2006/main">
              <a:ext uri="{FF2B5EF4-FFF2-40B4-BE49-F238E27FC236}">
                <a16:creationId xmlns:a16="http://schemas.microsoft.com/office/drawing/2014/main" id="{441F285B-F9C1-40F6-AEB8-18FFF128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924050"/>
            <a:ext cx="7143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12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112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DEMO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3d120dce840d1"/>
          <a:stretch xmlns:a="http://schemas.openxmlformats.org/drawingml/2006/main"/>
        </p:blipFill>
        <p:spPr>
          <a:xfrm xmlns:a="http://schemas.openxmlformats.org/drawingml/2006/main">
            <a:off x="857250" y="3171825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3" name="A little discovery, in the real world">
            <a:extLst xmlns:a="http://schemas.openxmlformats.org/drawingml/2006/main">
              <a:ext uri="{FF2B5EF4-FFF2-40B4-BE49-F238E27FC236}">
                <a16:creationId xmlns:a16="http://schemas.microsoft.com/office/drawing/2014/main" id="{3EB12EC4-8681-41FE-A48A-06360CC9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267200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262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A little discovery, in the real world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5B5D711F-D091-4EF9-9D2A-8A44455F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3072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w it works">
            <a:extLst xmlns:a="http://schemas.openxmlformats.org/drawingml/2006/main">
              <a:ext uri="{FF2B5EF4-FFF2-40B4-BE49-F238E27FC236}">
                <a16:creationId xmlns:a16="http://schemas.microsoft.com/office/drawing/2014/main" id="{41213608-2D13-4938-ADA8-9E6C5351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62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How it works</a:t>
            </a:r>
          </a:p>
        </p:txBody>
      </p:sp>
      <p:sp>
        <p:nvSpPr>
          <p:cNvPr id="2" name="Unity + ARKit">
            <a:extLst xmlns:a="http://schemas.openxmlformats.org/drawingml/2006/main">
              <a:ext uri="{FF2B5EF4-FFF2-40B4-BE49-F238E27FC236}">
                <a16:creationId xmlns:a16="http://schemas.microsoft.com/office/drawing/2014/main" id="{F2BA6F1A-B111-4D70-B462-83B1D06F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28825"/>
            <a:ext cx="714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Unity + ARKit</a:t>
            </a:r>
          </a:p>
        </p:txBody>
      </p:sp>
      <p:sp>
        <p:nvSpPr>
          <p:cNvPr id="3" name="Place and recover stickers in AR">
            <a:extLst xmlns:a="http://schemas.openxmlformats.org/drawingml/2006/main">
              <a:ext uri="{FF2B5EF4-FFF2-40B4-BE49-F238E27FC236}">
                <a16:creationId xmlns:a16="http://schemas.microsoft.com/office/drawing/2014/main" id="{A24A528F-2537-4F6E-A1F8-F17D8A44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57475"/>
            <a:ext cx="723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Place and recover stickers in AR</a:t>
            </a:r>
          </a:p>
        </p:txBody>
      </p:sp>
      <p:sp>
        <p:nvSpPr>
          <p:cNvPr id="4" name="MapKit">
            <a:extLst xmlns:a="http://schemas.openxmlformats.org/drawingml/2006/main">
              <a:ext uri="{FF2B5EF4-FFF2-40B4-BE49-F238E27FC236}">
                <a16:creationId xmlns:a16="http://schemas.microsoft.com/office/drawing/2014/main" id="{C32C9103-69EA-445F-81F3-B89E5DB4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714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MapKit</a:t>
            </a:r>
          </a:p>
        </p:txBody>
      </p:sp>
      <p:sp>
        <p:nvSpPr>
          <p:cNvPr id="5" name="Nearby discovery on Apple’s maps">
            <a:extLst xmlns:a="http://schemas.openxmlformats.org/drawingml/2006/main">
              <a:ext uri="{FF2B5EF4-FFF2-40B4-BE49-F238E27FC236}">
                <a16:creationId xmlns:a16="http://schemas.microsoft.com/office/drawing/2014/main" id="{5558A5DC-B9E3-4CC7-A88D-08AD7D47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91000"/>
            <a:ext cx="723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Nearby discovery on Apple’s maps</a:t>
            </a:r>
          </a:p>
        </p:txBody>
      </p:sp>
      <p:sp>
        <p:nvSpPr>
          <p:cNvPr id="6" name="Firebase + Cloud Run">
            <a:extLst xmlns:a="http://schemas.openxmlformats.org/drawingml/2006/main">
              <a:ext uri="{FF2B5EF4-FFF2-40B4-BE49-F238E27FC236}">
                <a16:creationId xmlns:a16="http://schemas.microsoft.com/office/drawing/2014/main" id="{6F2C95A7-A70F-467A-AD84-C58ADEFC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3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Firebase + Cloud Run</a:t>
            </a:r>
          </a:p>
        </p:txBody>
      </p:sp>
      <p:sp>
        <p:nvSpPr>
          <p:cNvPr id="7" name="Stickers, collections and private notes">
            <a:extLst xmlns:a="http://schemas.openxmlformats.org/drawingml/2006/main">
              <a:ext uri="{FF2B5EF4-FFF2-40B4-BE49-F238E27FC236}">
                <a16:creationId xmlns:a16="http://schemas.microsoft.com/office/drawing/2014/main" id="{C418BC48-6811-47D2-BD4D-2E5C01C0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723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2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Stickers, collections and private notes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78efe2c984adf"/>
          <a:stretch xmlns:a="http://schemas.openxmlformats.org/drawingml/2006/main"/>
        </p:blipFill>
        <p:spPr>
          <a:xfrm xmlns:a="http://schemas.openxmlformats.org/drawingml/2006/main">
            <a:off x="8591550" y="1604963"/>
            <a:ext cx="2695575" cy="2695575"/>
          </a:xfrm>
          <a:prstGeom xmlns:a="http://schemas.openxmlformats.org/drawingml/2006/main" prst="rect">
            <a:avLst/>
          </a:prstGeom>
        </p:spPr>
      </p:pic>
      <p:sp>
        <p:nvSpPr>
          <p:cNvPr id="9" name="On chain souvenirs">
            <a:extLst xmlns:a="http://schemas.openxmlformats.org/drawingml/2006/main">
              <a:ext uri="{FF2B5EF4-FFF2-40B4-BE49-F238E27FC236}">
                <a16:creationId xmlns:a16="http://schemas.microsoft.com/office/drawing/2014/main" id="{A5CE6ABE-C464-4697-8DF1-ED1E20F2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895850"/>
            <a:ext cx="32099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21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On chain souvenirs</a:t>
            </a:r>
          </a:p>
        </p:txBody>
      </p:sp>
      <p:sp>
        <p:nvSpPr>
          <p:cNvPr id="10" name="Already implemented">
            <a:extLst xmlns:a="http://schemas.openxmlformats.org/drawingml/2006/main">
              <a:ext uri="{FF2B5EF4-FFF2-40B4-BE49-F238E27FC236}">
                <a16:creationId xmlns:a16="http://schemas.microsoft.com/office/drawing/2014/main" id="{6AC8CE97-9EE9-46FC-A362-8D0E3514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534025"/>
            <a:ext cx="3162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725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Already implemented</a:t>
            </a:r>
          </a:p>
        </p:txBody>
      </p:sp>
      <p:sp>
        <p:nvSpPr>
          <p:cNvPr id="11" name="07">
            <a:extLst xmlns:a="http://schemas.openxmlformats.org/drawingml/2006/main">
              <a:ext uri="{FF2B5EF4-FFF2-40B4-BE49-F238E27FC236}">
                <a16:creationId xmlns:a16="http://schemas.microsoft.com/office/drawing/2014/main" id="{4F9E6359-313D-47E9-9FBA-EA186270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191705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he first&#10;community pilot">
            <a:extLst xmlns:a="http://schemas.openxmlformats.org/drawingml/2006/main">
              <a:ext uri="{FF2B5EF4-FFF2-40B4-BE49-F238E27FC236}">
                <a16:creationId xmlns:a16="http://schemas.microsoft.com/office/drawing/2014/main" id="{2E2CE34E-DF73-475B-8AC7-8E55F278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723900"/>
            <a:ext cx="685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4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4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The first</a:t>
            </a:r>
          </a:p>
          <a:p xmlns:a="http://schemas.openxmlformats.org/drawingml/2006/main">
            <a:pPr>
              <a:defRPr sz="54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475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community pilot</a:t>
            </a:r>
          </a:p>
        </p:txBody>
      </p:sp>
      <p:sp>
        <p:nvSpPr>
          <p:cNvPr id="2" name="A small trail of meaningful places.&#10;Original stickers f">
            <a:extLst xmlns:a="http://schemas.openxmlformats.org/drawingml/2006/main">
              <a:ext uri="{FF2B5EF4-FFF2-40B4-BE49-F238E27FC236}">
                <a16:creationId xmlns:a16="http://schemas.microsoft.com/office/drawing/2014/main" id="{EFB1E042-1AB0-46AE-95D0-E472DABA3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7239000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A small trail of meaningful places.</a:t>
            </a:r>
          </a:p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Original stickers from the community.</a:t>
            </a:r>
          </a:p>
          <a:p xmlns:a="http://schemas.openxmlformats.org/drawingml/2006/main">
            <a:pPr>
              <a:def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5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Real people trying the full journey.</a:t>
            </a:r>
          </a:p>
        </p:txBody>
      </p:sp>
      <p:sp>
        <p:nvSpPr>
          <p:cNvPr id="3" name="Learn: do people finish, and return?">
            <a:extLst xmlns:a="http://schemas.openxmlformats.org/drawingml/2006/main">
              <a:ext uri="{FF2B5EF4-FFF2-40B4-BE49-F238E27FC236}">
                <a16:creationId xmlns:a16="http://schemas.microsoft.com/office/drawing/2014/main" id="{3EE11B32-960F-4196-8671-32260A5D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95925"/>
            <a:ext cx="8096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27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Learn: do people finish, and return?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b7686256d84a42"/>
          <a:stretch xmlns:a="http://schemas.openxmlformats.org/drawingml/2006/main"/>
        </p:blipFill>
        <p:spPr>
          <a:xfrm xmlns:a="http://schemas.openxmlformats.org/drawingml/2006/main">
            <a:off x="8858250" y="2905125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5" name="08">
            <a:extLst xmlns:a="http://schemas.openxmlformats.org/drawingml/2006/main">
              <a:ext uri="{FF2B5EF4-FFF2-40B4-BE49-F238E27FC236}">
                <a16:creationId xmlns:a16="http://schemas.microsoft.com/office/drawing/2014/main" id="{E9B65F82-25D6-4FBD-9C42-DE2DB679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116541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ind your places.&#10;Collect your moments.">
            <a:extLst xmlns:a="http://schemas.openxmlformats.org/drawingml/2006/main">
              <a:ext uri="{FF2B5EF4-FFF2-40B4-BE49-F238E27FC236}">
                <a16:creationId xmlns:a16="http://schemas.microsoft.com/office/drawing/2014/main" id="{D899A5B9-E96A-4009-ABB7-07584D60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7725"/>
            <a:ext cx="80010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Find your places.</a:t>
            </a:r>
          </a:p>
          <a:p xmlns:a="http://schemas.openxmlformats.org/drawingml/2006/main">
            <a:pPr>
              <a:defRPr sz="5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585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Collect your moments.</a:t>
            </a:r>
          </a:p>
        </p:txBody>
      </p:sp>
      <p:sp>
        <p:nvSpPr>
          <p:cNvPr id="2" name="Let’s create the first&#10;community trail together.">
            <a:extLst xmlns:a="http://schemas.openxmlformats.org/drawingml/2006/main">
              <a:ext uri="{FF2B5EF4-FFF2-40B4-BE49-F238E27FC236}">
                <a16:creationId xmlns:a16="http://schemas.microsoft.com/office/drawing/2014/main" id="{5D924D27-E2A8-42F6-957A-D89F690F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781425"/>
            <a:ext cx="704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8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Let’s create the first</a:t>
            </a:r>
          </a:p>
          <a:p xmlns:a="http://schemas.openxmlformats.org/drawingml/2006/main">
            <a:pPr>
              <a:defRPr sz="28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2850">
                <a:solidFill>
                  <a:srgbClr val="262623"/>
                </a:solidFill>
                <a:latin typeface="Instrument Sans"/>
                <a:ea typeface="Instrument Sans"/>
                <a:cs typeface="Instrument Sans"/>
              </a:rPr>
              <a:t>community trail together.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7253342b4880"/>
          <a:stretch xmlns:a="http://schemas.openxmlformats.org/drawingml/2006/main"/>
        </p:blipFill>
        <p:spPr>
          <a:xfrm xmlns:a="http://schemas.openxmlformats.org/drawingml/2006/main">
            <a:off x="8743950" y="3281363"/>
            <a:ext cx="2771775" cy="2771775"/>
          </a:xfrm>
          <a:prstGeom xmlns:a="http://schemas.openxmlformats.org/drawingml/2006/main" prst="rect">
            <a:avLst/>
          </a:prstGeom>
        </p:spPr>
      </p:pic>
      <p:sp>
        <p:nvSpPr>
          <p:cNvPr id="4" name="tagtag">
            <a:extLst xmlns:a="http://schemas.openxmlformats.org/drawingml/2006/main">
              <a:ext uri="{FF2B5EF4-FFF2-40B4-BE49-F238E27FC236}">
                <a16:creationId xmlns:a16="http://schemas.microsoft.com/office/drawing/2014/main" id="{AB097964-C0BC-4BC4-B161-0D9784CB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62625"/>
            <a:ext cx="323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9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defRPr>
            </a:pPr>
            <a:r>
              <a:rPr sz="3900">
                <a:solidFill>
                  <a:srgbClr val="262623"/>
                </a:solidFill>
                <a:latin typeface="Shadows Into Light"/>
                <a:ea typeface="Shadows Into Light"/>
                <a:cs typeface="Shadows Into Light"/>
              </a:rPr>
              <a:t>tagtag</a:t>
            </a:r>
          </a:p>
        </p:txBody>
      </p:sp>
      <p:sp>
        <p:nvSpPr>
          <p:cNvPr id="5" name="09">
            <a:extLst xmlns:a="http://schemas.openxmlformats.org/drawingml/2006/main">
              <a:ext uri="{FF2B5EF4-FFF2-40B4-BE49-F238E27FC236}">
                <a16:creationId xmlns:a16="http://schemas.microsoft.com/office/drawing/2014/main" id="{DA91E18C-D037-4BF4-8926-4B075A93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055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defRPr>
            </a:pPr>
            <a:r>
              <a:rPr sz="1350">
                <a:solidFill>
                  <a:srgbClr val="62625B"/>
                </a:solidFill>
                <a:latin typeface="Instrument Sans"/>
                <a:ea typeface="Instrument Sans"/>
                <a:cs typeface="Instrument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982844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2026-09-26T20:06:34.7220000Z</dcterms:created>
  <dcterms:modified xsi:type="dcterms:W3CDTF">2026-09-26T20:06:34.7220000Z</dcterms:modified>
</coreProperties>
</file>