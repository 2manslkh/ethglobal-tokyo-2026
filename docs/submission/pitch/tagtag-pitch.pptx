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3d461a8b444435" /><Relationship Type="http://schemas.openxmlformats.org/officeDocument/2006/relationships/extended-properties" Target="/docProps/app.xml" Id="Ra663190c72de4827" /><Relationship Type="http://schemas.openxmlformats.org/officeDocument/2006/relationships/officeDocument" Target="/ppt/presentation.xml" Id="Ra189a37b7e2841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8543d52aa249b8"/>
  </p:sldMasterIdLst>
  <p:notesMasterIdLst>
    <p:notesMasterId xmlns:r="http://schemas.openxmlformats.org/officeDocument/2006/relationships" r:id="R4a857c09b4074ca2"/>
  </p:notesMasterIdLst>
  <p:sldIdLst>
    <p:sldId xmlns:r="http://schemas.openxmlformats.org/officeDocument/2006/relationships" id="256" r:id="Rd6a90e22309f4966"/>
    <p:sldId xmlns:r="http://schemas.openxmlformats.org/officeDocument/2006/relationships" id="257" r:id="R9e5c6544bce84255"/>
    <p:sldId xmlns:r="http://schemas.openxmlformats.org/officeDocument/2006/relationships" id="258" r:id="R88cf291412884391"/>
    <p:sldId xmlns:r="http://schemas.openxmlformats.org/officeDocument/2006/relationships" id="259" r:id="Ra63fbea262d94d5f"/>
    <p:sldId xmlns:r="http://schemas.openxmlformats.org/officeDocument/2006/relationships" id="260" r:id="R5874a79e82f04196"/>
    <p:sldId xmlns:r="http://schemas.openxmlformats.org/officeDocument/2006/relationships" id="261" r:id="Rf55e761eaeb84ee2"/>
    <p:sldId xmlns:r="http://schemas.openxmlformats.org/officeDocument/2006/relationships" id="262" r:id="Reae7bf379ab64abf"/>
    <p:sldId xmlns:r="http://schemas.openxmlformats.org/officeDocument/2006/relationships" id="263" r:id="Rd34f8fc34ac94555"/>
    <p:sldId xmlns:r="http://schemas.openxmlformats.org/officeDocument/2006/relationships" id="264" r:id="Rb52dddecc23b44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312e5129e24144" /><Relationship Type="http://schemas.openxmlformats.org/officeDocument/2006/relationships/slideMaster" Target="/ppt/slideMasters/slideMaster1.xml" Id="R658543d52aa249b8" /><Relationship Type="http://schemas.openxmlformats.org/officeDocument/2006/relationships/notesMaster" Target="/ppt/notesMasters/notesMaster1.xml" Id="R4a857c09b4074ca2" /><Relationship Type="http://schemas.openxmlformats.org/officeDocument/2006/relationships/presProps" Target="/ppt/presProps.xml" Id="Ra090d0d279904200" /><Relationship Type="http://schemas.openxmlformats.org/officeDocument/2006/relationships/tableStyles" Target="/ppt/tableStyles.xml" Id="R8a8cbe0b88904ddf" /><Relationship Type="http://schemas.openxmlformats.org/officeDocument/2006/relationships/slide" Target="/ppt/slides/slide1.xml" Id="Rd6a90e22309f4966" /><Relationship Type="http://schemas.openxmlformats.org/officeDocument/2006/relationships/slide" Target="/ppt/slides/slide2.xml" Id="R9e5c6544bce84255" /><Relationship Type="http://schemas.openxmlformats.org/officeDocument/2006/relationships/slide" Target="/ppt/slides/slide3.xml" Id="R88cf291412884391" /><Relationship Type="http://schemas.openxmlformats.org/officeDocument/2006/relationships/slide" Target="/ppt/slides/slide4.xml" Id="Ra63fbea262d94d5f" /><Relationship Type="http://schemas.openxmlformats.org/officeDocument/2006/relationships/slide" Target="/ppt/slides/slide5.xml" Id="R5874a79e82f04196" /><Relationship Type="http://schemas.openxmlformats.org/officeDocument/2006/relationships/slide" Target="/ppt/slides/slide6.xml" Id="Rf55e761eaeb84ee2" /><Relationship Type="http://schemas.openxmlformats.org/officeDocument/2006/relationships/slide" Target="/ppt/slides/slide7.xml" Id="Reae7bf379ab64abf" /><Relationship Type="http://schemas.openxmlformats.org/officeDocument/2006/relationships/slide" Target="/ppt/slides/slide8.xml" Id="Rd34f8fc34ac94555" /><Relationship Type="http://schemas.openxmlformats.org/officeDocument/2006/relationships/slide" Target="/ppt/slides/slide9.xml" Id="Rb52dddecc23b44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06883fc6374b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9b11b1438d4ce8" /><Relationship Type="http://schemas.openxmlformats.org/officeDocument/2006/relationships/notesMaster" Target="/ppt/notesMasters/notesMaster1.xml" Id="R8cd769467b824f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91a08b6d96401f" /><Relationship Type="http://schemas.openxmlformats.org/officeDocument/2006/relationships/notesMaster" Target="/ppt/notesMasters/notesMaster1.xml" Id="R4f91b209895d48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12f0e3e57d40aa" /><Relationship Type="http://schemas.openxmlformats.org/officeDocument/2006/relationships/notesMaster" Target="/ppt/notesMasters/notesMaster1.xml" Id="R7f26f8c638d145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9c8ab172ff47d7" /><Relationship Type="http://schemas.openxmlformats.org/officeDocument/2006/relationships/notesMaster" Target="/ppt/notesMasters/notesMaster1.xml" Id="R986f76fe12eb4c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737ec61061493c" /><Relationship Type="http://schemas.openxmlformats.org/officeDocument/2006/relationships/notesMaster" Target="/ppt/notesMasters/notesMaster1.xml" Id="R09e5a052362a48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55b3ff2edc4b56" /><Relationship Type="http://schemas.openxmlformats.org/officeDocument/2006/relationships/notesMaster" Target="/ppt/notesMasters/notesMaster1.xml" Id="R34b880a6cfc94a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1cc90b147b40ff" /><Relationship Type="http://schemas.openxmlformats.org/officeDocument/2006/relationships/notesMaster" Target="/ppt/notesMasters/notesMaster1.xml" Id="R28e44b42bae347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3223c347aa48fd" /><Relationship Type="http://schemas.openxmlformats.org/officeDocument/2006/relationships/notesMaster" Target="/ppt/notesMasters/notesMaster1.xml" Id="R94738e642c13436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d8985a104b4212" /><Relationship Type="http://schemas.openxmlformats.org/officeDocument/2006/relationships/notesMaster" Target="/ppt/notesMasters/notesMaster1.xml" Id="R3f850cc4ce104d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0:00–0:15 · Slide 1 · tagtag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“What if your favourite places had something waiting for you? tagtag is an augmented reality collecting game that helps communities create discoveries worth sharing. Find your places. Collect your moments.”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0:15–0:45 · Slide 2 · Two inspirations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“POAP showed how a digital collectible can carry the memory of being there. Reports put its lifetime reach at nearly 7.6 million badges, created by more than 46,000 issuers.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Pokémon GO showed the joy of taking a collecting game into the real world. It gave people a reason to explore and meet in shared places.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tagtag brings those ideas together: discovery with something personal to keep.”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https://poap.xyz/ and https://thecoinomist.com/news/poap-to-shut-down-after-minting-7-6m-event-badges/ (3 August 2026). 46,210 counts issuers, not distinct event designs. Pokémon GO: https://pokemongo.com/en. These products inspired tagtag; no affiliation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0:45–1:05 · Slide 3 · A place has a story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“Think about a café you love, a corner of your campus, or a conversation at a hackathon. Each could hold a small discovery for the next person.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 want to give communities a playful way to share those places, with a keepsake that remembers the experience.”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1:05–1:30 · Slide 4 · The collecting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“A creator chooses a sticker, places it on a real surface in AR, and leaves a clue and a note.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 explorer follows a nearby map pin and looks for the sticker at that spot. Collecting adds a copy to their sticker book and reveals the note. The original stays there for someone else to discover.”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1:30–1:55 · Slide 5 · A game communities can make their own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“Imagine a conference where each community leaves a sticker at its gathering place. Or a neighbourhood walk curated by local artists.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community supplies the stories and the places. Players explore, collect, and share what they found. Those shared discoveries give people a reason to meet and a reason to return. These are the experiences we want to test next.”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1:55–3:10 · Slide 6 · 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Switch to the mirrored iPhone at **1:55**. Keep this as one dedicated DEMO slide. Use a prepared location and a short note to avoid spending time typing.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Time | Action | Spoken words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1:55–2:05 | Show the sticker book, then open STICK. | “Here’s tagtag. This is my sticker book, and I’m going to leave a little discovery.” |</a:t>
            </a:r>
          </a:p>
          <a:p xmlns:a="http://schemas.openxmlformats.org/drawingml/2006/main">
            <a:r>
              <a:t>| 2:05–2:25 | Choose artwork, scan a surface, and place it. | “I choose Taggi, find a surface, and place the sticker. I can move it, resize it, and rotate it so it belongs in this spot.” |</a:t>
            </a:r>
          </a:p>
          <a:p xmlns:a="http://schemas.openxmlformats.org/drawingml/2006/main">
            <a:r>
              <a:t>| 2:25–2:45 | Show the clue, note, and publishing flow. | “I add a clue for the explorer and a note to reveal after collection. The app saves the placement and a reference photo to help someone find the same spot.” |</a:t>
            </a:r>
          </a:p>
          <a:p xmlns:a="http://schemas.openxmlformats.org/drawingml/2006/main">
            <a:r>
              <a:t>| 2:45–3:00 | Open Explore and show the placement’s pin and teaser. | “Now the discovery has a place on the map. This is the invitation to come and look.” |</a:t>
            </a:r>
          </a:p>
          <a:p xmlns:a="http://schemas.openxmlformats.org/drawingml/2006/main">
            <a:r>
              <a:t>| 3:00–3:10 | If verified, show a second phone collecting. Otherwise show the collection UI and use the fallback below. | Verified: “On the finder’s phone, collecting adds a copy to the book and reveals the note. The original remains for the next visitor.”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 for the final ten seconds:** “This is the collection interface. The complete journey between two phones is our next device test.” Do not present a simulated screen or a prepared book entry as a successful live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tracking or uploading takes too long, say “This step is still processing; I’ll show the saved placement,” and move to a known placement. Return to the deck at **3:10**. Do not accelerate the footage.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3:10–3:35 · Slide 7 · How it works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“We built the iPhone experience in Unity with ARKit, and use Apple’s maps for nearby discovery. Firebase and our Cloud Run API store stickers, collections, and private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 have also implemented on chain souvenirs, bringing the idea of digital keepsakes into tagtag. The collecting experience works without a blockchain transaction.”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3:35–3:50 · Slide 8 · The first community pilot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“Next, we want to run a small community trail: a handful of meaningful places, a set of original stickers, and real people trying the full journey. We’ll learn whether they finish the trail and come back for another.”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3:50–4:00 · Slide 9 · Find your places. Collect your moments.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“tagtag turns places into invitations, and discoveries into keepsakes. We’re looking for a community to create the first trail with us. Thank you.”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Recording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Use your own voice, clear audio without music, and at least 720p. Keep the final export between 2:00 and 4:00. Aim to finish speech a few seconds before 4:00 so the final cut stays within the limit.</a:t>
            </a:r>
          </a:p>
          <a:p xmlns:a="http://schemas.openxmlformats.org/drawingml/2006/main">
            <a:r>
              <a:t>- Slide 6 reserves 75 seconds, including interaction and pauses. Keep the closing at 3:50 even if the demo runs slowly.</a:t>
            </a:r>
          </a:p>
          <a:p xmlns:a="http://schemas.openxmlformats.org/drawingml/2006/main">
            <a:r>
              <a:t>- Community trails are a proposed pilot, not current customers, traction, or a finished campaign-management product.</a:t>
            </a:r>
          </a:p>
          <a:p xmlns:a="http://schemas.openxmlformats.org/drawingml/2006/main">
            <a:r>
              <a:t>- The app screenshots in the deck are simulator/UI fixture captures. Their counts are sample data, not user or usage metrics.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Sources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[POAP’s own description](https://poap.xyz/): collecting memories and connecting communities.</a:t>
            </a:r>
          </a:p>
          <a:p xmlns:a="http://schemas.openxmlformats.org/drawingml/2006/main">
            <a:r>
              <a:t>- [Reported POAP totals, 3 August 2026](https://thecoinomist.com/news/poap-to-shut-down-after-minting-7-6m-event-badges/): nearly 7.6 million badges and over 46,210 issuers. **Issuers** is the reported unit, not distinct badge designs. These are historical totals, not a live counter.</a:t>
            </a:r>
          </a:p>
          <a:p xmlns:a="http://schemas.openxmlformats.org/drawingml/2006/main">
            <a:r>
              <a:t>- [Pokémon GO](https://pokemongo.com/en): real-world collecting and exploration. No player-count claim appears in the deck.</a:t>
            </a:r>
          </a:p>
          <a:p xmlns:a="http://schemas.openxmlformats.org/drawingml/2006/main">
            <a:r>
              <a:t>- [Project description and evidence](../SUBMISSION.md), [feature readiness](../../FEATURE_READINESS.md), and [screenshot provenance](../SCREENSHOTS.md).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ca0e09397e48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c3292c9f8d4e80" /><Relationship Type="http://schemas.openxmlformats.org/officeDocument/2006/relationships/slideLayout" Target="/ppt/slideLayouts/slideLayout1.xml" Id="R4b97dbdfd3174a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97dbdfd3174a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fdcc882d14bd3" /><Relationship Type="http://schemas.openxmlformats.org/officeDocument/2006/relationships/image" Target="/ppt/media/image.png" Id="Rde51e5a14472491d" /><Relationship Type="http://schemas.openxmlformats.org/officeDocument/2006/relationships/notesSlide" Target="/ppt/notesSlides/notesSlide1.xml" Id="R8650db5158d940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3414a70ab4c57" /><Relationship Type="http://schemas.openxmlformats.org/officeDocument/2006/relationships/image" Target="/ppt/media/image2.png" Id="R5b5dfd2e99c740f4" /><Relationship Type="http://schemas.openxmlformats.org/officeDocument/2006/relationships/notesSlide" Target="/ppt/notesSlides/notesSlide2.xml" Id="R60531d2a749d45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ab95ed5484f4b" /><Relationship Type="http://schemas.openxmlformats.org/officeDocument/2006/relationships/image" Target="/ppt/media/image3.png" Id="Rec758affe4034f3d" /><Relationship Type="http://schemas.openxmlformats.org/officeDocument/2006/relationships/notesSlide" Target="/ppt/notesSlides/notesSlide3.xml" Id="R6c4500d324c640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63ec01d54443d" /><Relationship Type="http://schemas.openxmlformats.org/officeDocument/2006/relationships/image" Target="/ppt/media/image4.png" Id="R32a42fb0ff2942b4" /><Relationship Type="http://schemas.openxmlformats.org/officeDocument/2006/relationships/image" Target="/ppt/media/image5.png" Id="R726c12754c7b4fc0" /><Relationship Type="http://schemas.openxmlformats.org/officeDocument/2006/relationships/image" Target="/ppt/media/image6.png" Id="R3e5ba97cadab4b3e" /><Relationship Type="http://schemas.openxmlformats.org/officeDocument/2006/relationships/notesSlide" Target="/ppt/notesSlides/notesSlide4.xml" Id="Racf916545ec14e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2777d32e2478e" /><Relationship Type="http://schemas.openxmlformats.org/officeDocument/2006/relationships/image" Target="/ppt/media/image7.png" Id="Rc38da9b3b10942b1" /><Relationship Type="http://schemas.openxmlformats.org/officeDocument/2006/relationships/notesSlide" Target="/ppt/notesSlides/notesSlide5.xml" Id="R91436a97229642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c81c1e1eb4427" /><Relationship Type="http://schemas.openxmlformats.org/officeDocument/2006/relationships/image" Target="/ppt/media/image8.png" Id="R36ce049c2c5040ba" /><Relationship Type="http://schemas.openxmlformats.org/officeDocument/2006/relationships/notesSlide" Target="/ppt/notesSlides/notesSlide6.xml" Id="R8fa14796ba1442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e60f009ff4031" /><Relationship Type="http://schemas.openxmlformats.org/officeDocument/2006/relationships/image" Target="/ppt/media/image9.png" Id="R2db394a46445471d" /><Relationship Type="http://schemas.openxmlformats.org/officeDocument/2006/relationships/notesSlide" Target="/ppt/notesSlides/notesSlide7.xml" Id="R7fb35b50969548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41a59530644b89" /><Relationship Type="http://schemas.openxmlformats.org/officeDocument/2006/relationships/image" Target="/ppt/media/image10.png" Id="R816f38f94c974187" /><Relationship Type="http://schemas.openxmlformats.org/officeDocument/2006/relationships/notesSlide" Target="/ppt/notesSlides/notesSlide8.xml" Id="R1f774c4f4ecf49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bb3f5dfb64f0d" /><Relationship Type="http://schemas.openxmlformats.org/officeDocument/2006/relationships/image" Target="/ppt/media/image11.png" Id="R3e8160c7f24b4925" /><Relationship Type="http://schemas.openxmlformats.org/officeDocument/2006/relationships/notesSlide" Target="/ppt/notesSlides/notesSlide9.xml" Id="R11daa952fa1d469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agtag">
            <a:extLst xmlns:a="http://schemas.openxmlformats.org/drawingml/2006/main">
              <a:ext uri="{FF2B5EF4-FFF2-40B4-BE49-F238E27FC236}">
                <a16:creationId xmlns:a16="http://schemas.microsoft.com/office/drawing/2014/main" id="{8A3D3325-D22E-49ED-A209-318EDB91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"/>
            <a:ext cx="59055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1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11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tagtag</a:t>
            </a:r>
          </a:p>
        </p:txBody>
      </p:sp>
      <p:sp>
        <p:nvSpPr>
          <p:cNvPr id="2" name="An AR collecting game&#10;for communities">
            <a:extLst xmlns:a="http://schemas.openxmlformats.org/drawingml/2006/main">
              <a:ext uri="{FF2B5EF4-FFF2-40B4-BE49-F238E27FC236}">
                <a16:creationId xmlns:a16="http://schemas.microsoft.com/office/drawing/2014/main" id="{6F643B0B-1CC9-4448-8EBB-483FBD51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6286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An AR collecting game</a:t>
            </a:r>
          </a:p>
          <a:p xmlns:a="http://schemas.openxmlformats.org/drawingml/2006/main">
            <a:pPr>
              <a:def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for communities</a:t>
            </a:r>
          </a:p>
        </p:txBody>
      </p:sp>
      <p:sp>
        <p:nvSpPr>
          <p:cNvPr id="3" name="Find your places. Collect your moments.">
            <a:extLst xmlns:a="http://schemas.openxmlformats.org/drawingml/2006/main">
              <a:ext uri="{FF2B5EF4-FFF2-40B4-BE49-F238E27FC236}">
                <a16:creationId xmlns:a16="http://schemas.microsoft.com/office/drawing/2014/main" id="{8A36AD42-0155-4D98-97A9-EA31FC4D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62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262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Find your places. Collect your moments.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51e5a14472491d"/>
          <a:stretch xmlns:a="http://schemas.openxmlformats.org/drawingml/2006/main"/>
        </p:blipFill>
        <p:spPr>
          <a:xfrm xmlns:a="http://schemas.openxmlformats.org/drawingml/2006/main">
            <a:off x="7429500" y="1438275"/>
            <a:ext cx="3905250" cy="3905250"/>
          </a:xfrm>
          <a:prstGeom xmlns:a="http://schemas.openxmlformats.org/drawingml/2006/main" prst="rect">
            <a:avLst/>
          </a:prstGeom>
        </p:spPr>
      </p:pic>
      <p:sp>
        <p:nvSpPr>
          <p:cNvPr id="5" name="ETHGlobal Tokyo 2026">
            <a:extLst xmlns:a="http://schemas.openxmlformats.org/drawingml/2006/main">
              <a:ext uri="{FF2B5EF4-FFF2-40B4-BE49-F238E27FC236}">
                <a16:creationId xmlns:a16="http://schemas.microsoft.com/office/drawing/2014/main" id="{41D4FB68-4AA4-4827-8349-4BDBAD11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1912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50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ETHGlobal Tokyo 2026</a:t>
            </a:r>
          </a:p>
        </p:txBody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60F8286C-CF2E-4EFD-88F9-25BAD531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456265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wo inspirations">
            <a:extLst xmlns:a="http://schemas.openxmlformats.org/drawingml/2006/main">
              <a:ext uri="{FF2B5EF4-FFF2-40B4-BE49-F238E27FC236}">
                <a16:creationId xmlns:a16="http://schemas.microsoft.com/office/drawing/2014/main" id="{3475C595-E530-4027-AF4E-47F3FB40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"/>
            <a:ext cx="10096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Two inspirations</a:t>
            </a:r>
          </a:p>
        </p:txBody>
      </p:sp>
      <p:sp>
        <p:nvSpPr>
          <p:cNvPr id="2" name="POAP">
            <a:extLst xmlns:a="http://schemas.openxmlformats.org/drawingml/2006/main">
              <a:ext uri="{FF2B5EF4-FFF2-40B4-BE49-F238E27FC236}">
                <a16:creationId xmlns:a16="http://schemas.microsoft.com/office/drawing/2014/main" id="{66D1F7A7-74E6-4CB4-B026-14D19FE9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7642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3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43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POAP</a:t>
            </a:r>
          </a:p>
        </p:txBody>
      </p:sp>
      <p:sp>
        <p:nvSpPr>
          <p:cNvPr id="3" name="Memories worth keeping">
            <a:extLst xmlns:a="http://schemas.openxmlformats.org/drawingml/2006/main">
              <a:ext uri="{FF2B5EF4-FFF2-40B4-BE49-F238E27FC236}">
                <a16:creationId xmlns:a16="http://schemas.microsoft.com/office/drawing/2014/main" id="{0190187C-DCA8-4033-B4ED-DCD0D7CC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14625"/>
            <a:ext cx="504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Memories worth keeping</a:t>
            </a:r>
          </a:p>
        </p:txBody>
      </p:sp>
      <p:sp>
        <p:nvSpPr>
          <p:cNvPr id="4" name="~7.6 million">
            <a:extLst xmlns:a="http://schemas.openxmlformats.org/drawingml/2006/main">
              <a:ext uri="{FF2B5EF4-FFF2-40B4-BE49-F238E27FC236}">
                <a16:creationId xmlns:a16="http://schemas.microsoft.com/office/drawing/2014/main" id="{3FAEA1A8-4EB6-4444-9CE1-EB2D0BEB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6004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40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~7.6 million</a:t>
            </a:r>
          </a:p>
        </p:txBody>
      </p:sp>
      <p:sp>
        <p:nvSpPr>
          <p:cNvPr id="5" name="badges minted">
            <a:extLst xmlns:a="http://schemas.openxmlformats.org/drawingml/2006/main">
              <a:ext uri="{FF2B5EF4-FFF2-40B4-BE49-F238E27FC236}">
                <a16:creationId xmlns:a16="http://schemas.microsoft.com/office/drawing/2014/main" id="{053A32F6-80D6-4C46-832A-DF5E90CB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371975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9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badges minted</a:t>
            </a:r>
          </a:p>
        </p:txBody>
      </p:sp>
      <p:sp>
        <p:nvSpPr>
          <p:cNvPr id="6" name="46,210+ issuers">
            <a:extLst xmlns:a="http://schemas.openxmlformats.org/drawingml/2006/main">
              <a:ext uri="{FF2B5EF4-FFF2-40B4-BE49-F238E27FC236}">
                <a16:creationId xmlns:a16="http://schemas.microsoft.com/office/drawing/2014/main" id="{D831787F-9012-497B-8180-822661E7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962525"/>
            <a:ext cx="523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46,210+ issuers</a:t>
            </a:r>
          </a:p>
        </p:txBody>
      </p:sp>
      <p:sp>
        <p:nvSpPr>
          <p:cNvPr id="7" name="Pokémon GO">
            <a:extLst xmlns:a="http://schemas.openxmlformats.org/drawingml/2006/main">
              <a:ext uri="{FF2B5EF4-FFF2-40B4-BE49-F238E27FC236}">
                <a16:creationId xmlns:a16="http://schemas.microsoft.com/office/drawing/2014/main" id="{F4E95E89-BFCC-4B67-A22D-73272CD6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7642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3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43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Pokémon GO</a:t>
            </a:r>
          </a:p>
        </p:txBody>
      </p:sp>
      <p:sp>
        <p:nvSpPr>
          <p:cNvPr id="8" name="Discovery worth&#10;going out for">
            <a:extLst xmlns:a="http://schemas.openxmlformats.org/drawingml/2006/main">
              <a:ext uri="{FF2B5EF4-FFF2-40B4-BE49-F238E27FC236}">
                <a16:creationId xmlns:a16="http://schemas.microsoft.com/office/drawing/2014/main" id="{1A6C2F16-E9D3-4073-9D0C-821291A3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714625"/>
            <a:ext cx="428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70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Discovery worth</a:t>
            </a:r>
          </a:p>
          <a:p xmlns:a="http://schemas.openxmlformats.org/drawingml/2006/main">
            <a:pPr>
              <a:defRPr sz="270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70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going out for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dfd2e99c740f4"/>
          <a:stretch xmlns:a="http://schemas.openxmlformats.org/drawingml/2006/main"/>
        </p:blipFill>
        <p:spPr>
          <a:xfrm xmlns:a="http://schemas.openxmlformats.org/drawingml/2006/main">
            <a:off x="8848725" y="4000500"/>
            <a:ext cx="2219325" cy="2219325"/>
          </a:xfrm>
          <a:prstGeom xmlns:a="http://schemas.openxmlformats.org/drawingml/2006/main" prst="rect">
            <a:avLst/>
          </a:prstGeom>
        </p:spPr>
      </p:pic>
      <p:sp>
        <p:nvSpPr>
          <p:cNvPr id="10" name="Historical totals reported August 2026">
            <a:extLst xmlns:a="http://schemas.openxmlformats.org/drawingml/2006/main">
              <a:ext uri="{FF2B5EF4-FFF2-40B4-BE49-F238E27FC236}">
                <a16:creationId xmlns:a16="http://schemas.microsoft.com/office/drawing/2014/main" id="{FDC549A6-06F3-49B5-A9CE-78E6845A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010275"/>
            <a:ext cx="733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42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Historical totals reported August 2026</a:t>
            </a:r>
          </a:p>
        </p:txBody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7EB6811F-05DB-46AD-84DC-47E9D872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309075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758affe4034f3d"/>
          <a:stretch xmlns:a="http://schemas.openxmlformats.org/drawingml/2006/main"/>
        </p:blipFill>
        <p:spPr>
          <a:xfrm xmlns:a="http://schemas.openxmlformats.org/drawingml/2006/main">
            <a:off x="800100" y="896239"/>
            <a:ext cx="2762250" cy="4913122"/>
          </a:xfrm>
          <a:prstGeom xmlns:a="http://schemas.openxmlformats.org/drawingml/2006/main" prst="rect">
            <a:avLst/>
          </a:prstGeom>
        </p:spPr>
      </p:pic>
      <p:sp>
        <p:nvSpPr>
          <p:cNvPr id="2" name="A place has&#10;a story">
            <a:extLst xmlns:a="http://schemas.openxmlformats.org/drawingml/2006/main">
              <a:ext uri="{FF2B5EF4-FFF2-40B4-BE49-F238E27FC236}">
                <a16:creationId xmlns:a16="http://schemas.microsoft.com/office/drawing/2014/main" id="{A5EEA3CE-1DF0-40CF-ACBF-4F72966E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181100"/>
            <a:ext cx="6667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6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6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A place has</a:t>
            </a:r>
          </a:p>
          <a:p xmlns:a="http://schemas.openxmlformats.org/drawingml/2006/main">
            <a:pPr>
              <a:defRPr sz="6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6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a story</a:t>
            </a:r>
          </a:p>
        </p:txBody>
      </p:sp>
      <p:sp>
        <p:nvSpPr>
          <p:cNvPr id="3" name="Leave a little discovery&#10;for the next person.">
            <a:extLst xmlns:a="http://schemas.openxmlformats.org/drawingml/2006/main">
              <a:ext uri="{FF2B5EF4-FFF2-40B4-BE49-F238E27FC236}">
                <a16:creationId xmlns:a16="http://schemas.microsoft.com/office/drawing/2014/main" id="{25043FFF-6303-43BC-9134-1B820CC3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57625"/>
            <a:ext cx="6572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Leave a little discovery</a:t>
            </a:r>
          </a:p>
          <a:p xmlns:a="http://schemas.openxmlformats.org/drawingml/2006/main">
            <a:pPr>
              <a:def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for the next person.</a:t>
            </a:r>
          </a:p>
        </p:txBody>
      </p:sp>
      <p:sp>
        <p:nvSpPr>
          <p:cNvPr id="4" name="App preview from iOS Simulator">
            <a:extLst xmlns:a="http://schemas.openxmlformats.org/drawingml/2006/main">
              <a:ext uri="{FF2B5EF4-FFF2-40B4-BE49-F238E27FC236}">
                <a16:creationId xmlns:a16="http://schemas.microsoft.com/office/drawing/2014/main" id="{397D6B5C-CD10-4F1E-A4CF-1CC8C73A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372225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App preview from iOS Simulator</a:t>
            </a:r>
          </a:p>
        </p:txBody>
      </p:sp>
      <p:sp>
        <p:nvSpPr>
          <p:cNvPr id="5" name="03">
            <a:extLst xmlns:a="http://schemas.openxmlformats.org/drawingml/2006/main">
              <a:ext uri="{FF2B5EF4-FFF2-40B4-BE49-F238E27FC236}">
                <a16:creationId xmlns:a16="http://schemas.microsoft.com/office/drawing/2014/main" id="{A359F2B9-1D35-4356-8E03-A303A536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752737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ollecting loop">
            <a:extLst xmlns:a="http://schemas.openxmlformats.org/drawingml/2006/main">
              <a:ext uri="{FF2B5EF4-FFF2-40B4-BE49-F238E27FC236}">
                <a16:creationId xmlns:a16="http://schemas.microsoft.com/office/drawing/2014/main" id="{3AC9FB92-7432-4A78-97A3-B9B81402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The collecting loop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a42fb0ff2942b4"/>
          <a:stretch xmlns:a="http://schemas.openxmlformats.org/drawingml/2006/main"/>
        </p:blipFill>
        <p:spPr>
          <a:xfrm xmlns:a="http://schemas.openxmlformats.org/drawingml/2006/main">
            <a:off x="1171575" y="1862138"/>
            <a:ext cx="2152650" cy="215265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c12754c7b4fc0"/>
          <a:stretch xmlns:a="http://schemas.openxmlformats.org/drawingml/2006/main"/>
        </p:blipFill>
        <p:spPr>
          <a:xfrm xmlns:a="http://schemas.openxmlformats.org/drawingml/2006/main">
            <a:off x="4991100" y="1771650"/>
            <a:ext cx="2238375" cy="223837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5ba97cadab4b3e"/>
          <a:stretch xmlns:a="http://schemas.openxmlformats.org/drawingml/2006/main"/>
        </p:blipFill>
        <p:spPr>
          <a:xfrm xmlns:a="http://schemas.openxmlformats.org/drawingml/2006/main">
            <a:off x="8829675" y="1866900"/>
            <a:ext cx="2143125" cy="2143125"/>
          </a:xfrm>
          <a:prstGeom xmlns:a="http://schemas.openxmlformats.org/drawingml/2006/main" prst="rect">
            <a:avLst/>
          </a:prstGeom>
        </p:spPr>
      </p:pic>
      <p:sp>
        <p:nvSpPr>
          <p:cNvPr id="5" name="1. Leave a sticker">
            <a:extLst xmlns:a="http://schemas.openxmlformats.org/drawingml/2006/main">
              <a:ext uri="{FF2B5EF4-FFF2-40B4-BE49-F238E27FC236}">
                <a16:creationId xmlns:a16="http://schemas.microsoft.com/office/drawing/2014/main" id="{A6BF35EA-E871-425C-9F56-D4C73BF0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38650"/>
            <a:ext cx="338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1. Leave a sticker</a:t>
            </a:r>
          </a:p>
        </p:txBody>
      </p:sp>
      <p:sp>
        <p:nvSpPr>
          <p:cNvPr id="6" name="Art, a place, a private note.">
            <a:extLst xmlns:a="http://schemas.openxmlformats.org/drawingml/2006/main">
              <a:ext uri="{FF2B5EF4-FFF2-40B4-BE49-F238E27FC236}">
                <a16:creationId xmlns:a16="http://schemas.microsoft.com/office/drawing/2014/main" id="{A2723D09-456B-40E8-93F4-5C9B0D4A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257800"/>
            <a:ext cx="314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Art, a place, a private note.</a:t>
            </a:r>
          </a:p>
        </p:txBody>
      </p:sp>
      <p:sp>
        <p:nvSpPr>
          <p:cNvPr id="7" name="2. Find its place">
            <a:extLst xmlns:a="http://schemas.openxmlformats.org/drawingml/2006/main">
              <a:ext uri="{FF2B5EF4-FFF2-40B4-BE49-F238E27FC236}">
                <a16:creationId xmlns:a16="http://schemas.microsoft.com/office/drawing/2014/main" id="{CDE1451D-604E-49B2-843A-F1525918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438650"/>
            <a:ext cx="338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2. Find its place</a:t>
            </a:r>
          </a:p>
        </p:txBody>
      </p:sp>
      <p:sp>
        <p:nvSpPr>
          <p:cNvPr id="8" name="Follow the clue into AR.">
            <a:extLst xmlns:a="http://schemas.openxmlformats.org/drawingml/2006/main">
              <a:ext uri="{FF2B5EF4-FFF2-40B4-BE49-F238E27FC236}">
                <a16:creationId xmlns:a16="http://schemas.microsoft.com/office/drawing/2014/main" id="{3E8B6DE3-FEB6-4903-953E-C38424CA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257800"/>
            <a:ext cx="314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Follow the clue into AR.</a:t>
            </a:r>
          </a:p>
        </p:txBody>
      </p:sp>
      <p:sp>
        <p:nvSpPr>
          <p:cNvPr id="9" name="3. Keep the memory">
            <a:extLst xmlns:a="http://schemas.openxmlformats.org/drawingml/2006/main">
              <a:ext uri="{FF2B5EF4-FFF2-40B4-BE49-F238E27FC236}">
                <a16:creationId xmlns:a16="http://schemas.microsoft.com/office/drawing/2014/main" id="{FDA0BFE9-FBB0-4C2E-811E-732C010B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438650"/>
            <a:ext cx="338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3. Keep the memory</a:t>
            </a:r>
          </a:p>
        </p:txBody>
      </p:sp>
      <p:sp>
        <p:nvSpPr>
          <p:cNvPr id="10" name="Collect a copy. Reveal the note.">
            <a:extLst xmlns:a="http://schemas.openxmlformats.org/drawingml/2006/main">
              <a:ext uri="{FF2B5EF4-FFF2-40B4-BE49-F238E27FC236}">
                <a16:creationId xmlns:a16="http://schemas.microsoft.com/office/drawing/2014/main" id="{2D84635F-B701-4640-B472-94C34177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7800"/>
            <a:ext cx="3086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Collect a copy. Reveal the note.</a:t>
            </a:r>
          </a:p>
        </p:txBody>
      </p:sp>
      <p:sp>
        <p:nvSpPr>
          <p:cNvPr id="11" name="04">
            <a:extLst xmlns:a="http://schemas.openxmlformats.org/drawingml/2006/main">
              <a:ext uri="{FF2B5EF4-FFF2-40B4-BE49-F238E27FC236}">
                <a16:creationId xmlns:a16="http://schemas.microsoft.com/office/drawing/2014/main" id="{790F6DB7-EA53-411E-AD68-719932D6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5492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 game communities&#10;can make their own">
            <a:extLst xmlns:a="http://schemas.openxmlformats.org/drawingml/2006/main">
              <a:ext uri="{FF2B5EF4-FFF2-40B4-BE49-F238E27FC236}">
                <a16:creationId xmlns:a16="http://schemas.microsoft.com/office/drawing/2014/main" id="{2A0F6FD0-EEA9-4801-BFAA-A4546F3D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90575"/>
            <a:ext cx="7334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8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48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A game communities</a:t>
            </a:r>
          </a:p>
          <a:p xmlns:a="http://schemas.openxmlformats.org/drawingml/2006/main">
            <a:pPr>
              <a:defRPr sz="48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48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can make their own</a:t>
            </a:r>
          </a:p>
        </p:txBody>
      </p:sp>
      <p:sp>
        <p:nvSpPr>
          <p:cNvPr id="2" name="A conference’s gathering places">
            <a:extLst xmlns:a="http://schemas.openxmlformats.org/drawingml/2006/main">
              <a:ext uri="{FF2B5EF4-FFF2-40B4-BE49-F238E27FC236}">
                <a16:creationId xmlns:a16="http://schemas.microsoft.com/office/drawing/2014/main" id="{6399642F-AA79-437C-9258-83B41F6A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52775"/>
            <a:ext cx="695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 conference’s gathering places</a:t>
            </a:r>
          </a:p>
        </p:txBody>
      </p:sp>
      <p:sp>
        <p:nvSpPr>
          <p:cNvPr id="3" name="A neighbourhood’s art walk">
            <a:extLst xmlns:a="http://schemas.openxmlformats.org/drawingml/2006/main">
              <a:ext uri="{FF2B5EF4-FFF2-40B4-BE49-F238E27FC236}">
                <a16:creationId xmlns:a16="http://schemas.microsoft.com/office/drawing/2014/main" id="{D71982D1-1D36-400F-A745-88B980F8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24300"/>
            <a:ext cx="695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 neighbourhood’s art walk</a:t>
            </a:r>
          </a:p>
        </p:txBody>
      </p:sp>
      <p:sp>
        <p:nvSpPr>
          <p:cNvPr id="4" name="Shared discoveries give people&#10;a reason to meet and ret">
            <a:extLst xmlns:a="http://schemas.openxmlformats.org/drawingml/2006/main">
              <a:ext uri="{FF2B5EF4-FFF2-40B4-BE49-F238E27FC236}">
                <a16:creationId xmlns:a16="http://schemas.microsoft.com/office/drawing/2014/main" id="{C8B20467-2CAC-4A10-A229-A7A05021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6715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Shared discoveries give people</a:t>
            </a:r>
          </a:p>
          <a:p xmlns:a="http://schemas.openxmlformats.org/drawingml/2006/main">
            <a:pPr>
              <a:def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 reason to meet and return.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da9b3b10942b1"/>
          <a:stretch xmlns:a="http://schemas.openxmlformats.org/drawingml/2006/main"/>
        </p:blipFill>
        <p:spPr>
          <a:xfrm xmlns:a="http://schemas.openxmlformats.org/drawingml/2006/main">
            <a:off x="8582025" y="552548"/>
            <a:ext cx="2552700" cy="5524305"/>
          </a:xfrm>
          <a:prstGeom xmlns:a="http://schemas.openxmlformats.org/drawingml/2006/main" prst="rect">
            <a:avLst/>
          </a:prstGeom>
        </p:spPr>
      </p:pic>
      <p:sp>
        <p:nvSpPr>
          <p:cNvPr id="6" name="Proposed uses">
            <a:extLst xmlns:a="http://schemas.openxmlformats.org/drawingml/2006/main">
              <a:ext uri="{FF2B5EF4-FFF2-40B4-BE49-F238E27FC236}">
                <a16:creationId xmlns:a16="http://schemas.microsoft.com/office/drawing/2014/main" id="{746F4926-5B54-466D-8342-5EBDD1C5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055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Proposed uses</a:t>
            </a:r>
          </a:p>
        </p:txBody>
      </p:sp>
      <p:sp>
        <p:nvSpPr>
          <p:cNvPr id="7" name="UI preview / sample data">
            <a:extLst xmlns:a="http://schemas.openxmlformats.org/drawingml/2006/main">
              <a:ext uri="{FF2B5EF4-FFF2-40B4-BE49-F238E27FC236}">
                <a16:creationId xmlns:a16="http://schemas.microsoft.com/office/drawing/2014/main" id="{E8221F4F-F525-4CCD-8218-B20CC99A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6229350"/>
            <a:ext cx="2619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27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UI preview / sample data</a:t>
            </a:r>
          </a:p>
        </p:txBody>
      </p:sp>
      <p:sp>
        <p:nvSpPr>
          <p:cNvPr id="8" name="05">
            <a:extLst xmlns:a="http://schemas.openxmlformats.org/drawingml/2006/main">
              <a:ext uri="{FF2B5EF4-FFF2-40B4-BE49-F238E27FC236}">
                <a16:creationId xmlns:a16="http://schemas.microsoft.com/office/drawing/2014/main" id="{1A3898DF-E8C6-4E74-BFE1-D0587E7A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998095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DEMO">
            <a:extLst xmlns:a="http://schemas.openxmlformats.org/drawingml/2006/main">
              <a:ext uri="{FF2B5EF4-FFF2-40B4-BE49-F238E27FC236}">
                <a16:creationId xmlns:a16="http://schemas.microsoft.com/office/drawing/2014/main" id="{06E7A693-1D0D-4E72-81DB-EF5A4D60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924050"/>
            <a:ext cx="7143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12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112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DEMO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ce049c2c5040ba"/>
          <a:stretch xmlns:a="http://schemas.openxmlformats.org/drawingml/2006/main"/>
        </p:blipFill>
        <p:spPr>
          <a:xfrm xmlns:a="http://schemas.openxmlformats.org/drawingml/2006/main">
            <a:off x="857250" y="3171825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3" name="A little discovery, in the real world">
            <a:extLst xmlns:a="http://schemas.openxmlformats.org/drawingml/2006/main">
              <a:ext uri="{FF2B5EF4-FFF2-40B4-BE49-F238E27FC236}">
                <a16:creationId xmlns:a16="http://schemas.microsoft.com/office/drawing/2014/main" id="{A94B4B20-186B-4F00-9922-43FFE8C3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267200"/>
            <a:ext cx="723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62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262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A little discovery, in the real world</a:t>
            </a:r>
          </a:p>
        </p:txBody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38850924-AD1D-45B7-B5F3-D4EAC171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523517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w it works">
            <a:extLst xmlns:a="http://schemas.openxmlformats.org/drawingml/2006/main">
              <a:ext uri="{FF2B5EF4-FFF2-40B4-BE49-F238E27FC236}">
                <a16:creationId xmlns:a16="http://schemas.microsoft.com/office/drawing/2014/main" id="{E84FAE9A-6F1E-494B-9226-20B862DC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62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How it works</a:t>
            </a:r>
          </a:p>
        </p:txBody>
      </p:sp>
      <p:sp>
        <p:nvSpPr>
          <p:cNvPr id="2" name="Unity + ARKit">
            <a:extLst xmlns:a="http://schemas.openxmlformats.org/drawingml/2006/main">
              <a:ext uri="{FF2B5EF4-FFF2-40B4-BE49-F238E27FC236}">
                <a16:creationId xmlns:a16="http://schemas.microsoft.com/office/drawing/2014/main" id="{42842688-7C30-4118-8D4D-A602A52F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28825"/>
            <a:ext cx="714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Unity + ARKit</a:t>
            </a:r>
          </a:p>
        </p:txBody>
      </p:sp>
      <p:sp>
        <p:nvSpPr>
          <p:cNvPr id="3" name="Place and recover stickers in AR">
            <a:extLst xmlns:a="http://schemas.openxmlformats.org/drawingml/2006/main">
              <a:ext uri="{FF2B5EF4-FFF2-40B4-BE49-F238E27FC236}">
                <a16:creationId xmlns:a16="http://schemas.microsoft.com/office/drawing/2014/main" id="{D0961ECF-BA39-453D-9400-E64AA584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57475"/>
            <a:ext cx="723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Place and recover stickers in AR</a:t>
            </a:r>
          </a:p>
        </p:txBody>
      </p:sp>
      <p:sp>
        <p:nvSpPr>
          <p:cNvPr id="4" name="MapKit">
            <a:extLst xmlns:a="http://schemas.openxmlformats.org/drawingml/2006/main">
              <a:ext uri="{FF2B5EF4-FFF2-40B4-BE49-F238E27FC236}">
                <a16:creationId xmlns:a16="http://schemas.microsoft.com/office/drawing/2014/main" id="{F0A70D8D-E84C-4EA4-B671-5DB2467F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714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MapKit</a:t>
            </a:r>
          </a:p>
        </p:txBody>
      </p:sp>
      <p:sp>
        <p:nvSpPr>
          <p:cNvPr id="5" name="Nearby discovery on Apple’s maps">
            <a:extLst xmlns:a="http://schemas.openxmlformats.org/drawingml/2006/main">
              <a:ext uri="{FF2B5EF4-FFF2-40B4-BE49-F238E27FC236}">
                <a16:creationId xmlns:a16="http://schemas.microsoft.com/office/drawing/2014/main" id="{8E6C682A-4033-4841-91FC-EA575793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91000"/>
            <a:ext cx="723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Nearby discovery on Apple’s maps</a:t>
            </a:r>
          </a:p>
        </p:txBody>
      </p:sp>
      <p:sp>
        <p:nvSpPr>
          <p:cNvPr id="6" name="Firebase + Cloud Run">
            <a:extLst xmlns:a="http://schemas.openxmlformats.org/drawingml/2006/main">
              <a:ext uri="{FF2B5EF4-FFF2-40B4-BE49-F238E27FC236}">
                <a16:creationId xmlns:a16="http://schemas.microsoft.com/office/drawing/2014/main" id="{AF8B48DB-296B-4F2B-9E00-49FF0DA3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587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Firebase + Cloud Run</a:t>
            </a:r>
          </a:p>
        </p:txBody>
      </p:sp>
      <p:sp>
        <p:nvSpPr>
          <p:cNvPr id="7" name="Stickers, collections and private notes">
            <a:extLst xmlns:a="http://schemas.openxmlformats.org/drawingml/2006/main">
              <a:ext uri="{FF2B5EF4-FFF2-40B4-BE49-F238E27FC236}">
                <a16:creationId xmlns:a16="http://schemas.microsoft.com/office/drawing/2014/main" id="{75E23F27-04A3-4C09-B2D5-C50C0292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723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Stickers, collections and private notes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394a46445471d"/>
          <a:stretch xmlns:a="http://schemas.openxmlformats.org/drawingml/2006/main"/>
        </p:blipFill>
        <p:spPr>
          <a:xfrm xmlns:a="http://schemas.openxmlformats.org/drawingml/2006/main">
            <a:off x="8591550" y="1604963"/>
            <a:ext cx="2695575" cy="2695575"/>
          </a:xfrm>
          <a:prstGeom xmlns:a="http://schemas.openxmlformats.org/drawingml/2006/main" prst="rect">
            <a:avLst/>
          </a:prstGeom>
        </p:spPr>
      </p:pic>
      <p:sp>
        <p:nvSpPr>
          <p:cNvPr id="9" name="On chain souvenirs">
            <a:extLst xmlns:a="http://schemas.openxmlformats.org/drawingml/2006/main">
              <a:ext uri="{FF2B5EF4-FFF2-40B4-BE49-F238E27FC236}">
                <a16:creationId xmlns:a16="http://schemas.microsoft.com/office/drawing/2014/main" id="{F49427DD-3AEE-4D5D-BA60-CAA78303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895850"/>
            <a:ext cx="32099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2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On chain souvenirs</a:t>
            </a:r>
          </a:p>
        </p:txBody>
      </p:sp>
      <p:sp>
        <p:nvSpPr>
          <p:cNvPr id="10" name="Already implemented">
            <a:extLst xmlns:a="http://schemas.openxmlformats.org/drawingml/2006/main">
              <a:ext uri="{FF2B5EF4-FFF2-40B4-BE49-F238E27FC236}">
                <a16:creationId xmlns:a16="http://schemas.microsoft.com/office/drawing/2014/main" id="{53C31EE2-7B22-4ECA-AB91-9C6E5010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5534025"/>
            <a:ext cx="3162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72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Already implemented</a:t>
            </a:r>
          </a:p>
        </p:txBody>
      </p:sp>
      <p:sp>
        <p:nvSpPr>
          <p:cNvPr id="11" name="07">
            <a:extLst xmlns:a="http://schemas.openxmlformats.org/drawingml/2006/main">
              <a:ext uri="{FF2B5EF4-FFF2-40B4-BE49-F238E27FC236}">
                <a16:creationId xmlns:a16="http://schemas.microsoft.com/office/drawing/2014/main" id="{3F936674-2325-4AA4-99B6-D7CAE694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801515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he first&#10;community pilot">
            <a:extLst xmlns:a="http://schemas.openxmlformats.org/drawingml/2006/main">
              <a:ext uri="{FF2B5EF4-FFF2-40B4-BE49-F238E27FC236}">
                <a16:creationId xmlns:a16="http://schemas.microsoft.com/office/drawing/2014/main" id="{F5424F38-784C-4E7C-9763-052F0A0E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723900"/>
            <a:ext cx="6858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4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4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The first</a:t>
            </a:r>
          </a:p>
          <a:p xmlns:a="http://schemas.openxmlformats.org/drawingml/2006/main">
            <a:pPr>
              <a:defRPr sz="54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4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community pilot</a:t>
            </a:r>
          </a:p>
        </p:txBody>
      </p:sp>
      <p:sp>
        <p:nvSpPr>
          <p:cNvPr id="2" name="A small trail of meaningful places.&#10;Original stickers f">
            <a:extLst xmlns:a="http://schemas.openxmlformats.org/drawingml/2006/main">
              <a:ext uri="{FF2B5EF4-FFF2-40B4-BE49-F238E27FC236}">
                <a16:creationId xmlns:a16="http://schemas.microsoft.com/office/drawing/2014/main" id="{C1A6CFFB-3D46-4490-B8B2-D05D8FC6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7239000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 small trail of meaningful places.</a:t>
            </a:r>
          </a:p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Original stickers from the community.</a:t>
            </a:r>
          </a:p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Real people trying the full journey.</a:t>
            </a:r>
          </a:p>
        </p:txBody>
      </p:sp>
      <p:sp>
        <p:nvSpPr>
          <p:cNvPr id="3" name="Learn: do people finish, and return?">
            <a:extLst xmlns:a="http://schemas.openxmlformats.org/drawingml/2006/main">
              <a:ext uri="{FF2B5EF4-FFF2-40B4-BE49-F238E27FC236}">
                <a16:creationId xmlns:a16="http://schemas.microsoft.com/office/drawing/2014/main" id="{CE4F8442-871E-4CFE-87AA-4EEFFCF3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95925"/>
            <a:ext cx="8096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27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Learn: do people finish, and return?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6f38f94c974187"/>
          <a:stretch xmlns:a="http://schemas.openxmlformats.org/drawingml/2006/main"/>
        </p:blipFill>
        <p:spPr>
          <a:xfrm xmlns:a="http://schemas.openxmlformats.org/drawingml/2006/main">
            <a:off x="8858250" y="2905125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5" name="08">
            <a:extLst xmlns:a="http://schemas.openxmlformats.org/drawingml/2006/main">
              <a:ext uri="{FF2B5EF4-FFF2-40B4-BE49-F238E27FC236}">
                <a16:creationId xmlns:a16="http://schemas.microsoft.com/office/drawing/2014/main" id="{A03A684B-7F90-4E51-AEFF-7AADC8E1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276648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ind your places.&#10;Collect your moments.">
            <a:extLst xmlns:a="http://schemas.openxmlformats.org/drawingml/2006/main">
              <a:ext uri="{FF2B5EF4-FFF2-40B4-BE49-F238E27FC236}">
                <a16:creationId xmlns:a16="http://schemas.microsoft.com/office/drawing/2014/main" id="{682D0EF7-E994-4EEA-9600-24183738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7725"/>
            <a:ext cx="80010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Find your places.</a:t>
            </a:r>
          </a:p>
          <a:p xmlns:a="http://schemas.openxmlformats.org/drawingml/2006/main">
            <a:pPr>
              <a:defRPr sz="5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Collect your moments.</a:t>
            </a:r>
          </a:p>
        </p:txBody>
      </p:sp>
      <p:sp>
        <p:nvSpPr>
          <p:cNvPr id="2" name="Let’s create the first&#10;community trail together.">
            <a:extLst xmlns:a="http://schemas.openxmlformats.org/drawingml/2006/main">
              <a:ext uri="{FF2B5EF4-FFF2-40B4-BE49-F238E27FC236}">
                <a16:creationId xmlns:a16="http://schemas.microsoft.com/office/drawing/2014/main" id="{7DD0D7C0-7458-4B1F-AF96-C1891013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781425"/>
            <a:ext cx="704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8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Let’s create the first</a:t>
            </a:r>
          </a:p>
          <a:p xmlns:a="http://schemas.openxmlformats.org/drawingml/2006/main">
            <a:pPr>
              <a:defRPr sz="28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8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community trail together.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8160c7f24b4925"/>
          <a:stretch xmlns:a="http://schemas.openxmlformats.org/drawingml/2006/main"/>
        </p:blipFill>
        <p:spPr>
          <a:xfrm xmlns:a="http://schemas.openxmlformats.org/drawingml/2006/main">
            <a:off x="8743950" y="3281363"/>
            <a:ext cx="2771775" cy="2771775"/>
          </a:xfrm>
          <a:prstGeom xmlns:a="http://schemas.openxmlformats.org/drawingml/2006/main" prst="rect">
            <a:avLst/>
          </a:prstGeom>
        </p:spPr>
      </p:pic>
      <p:sp>
        <p:nvSpPr>
          <p:cNvPr id="4" name="tagtag">
            <a:extLst xmlns:a="http://schemas.openxmlformats.org/drawingml/2006/main">
              <a:ext uri="{FF2B5EF4-FFF2-40B4-BE49-F238E27FC236}">
                <a16:creationId xmlns:a16="http://schemas.microsoft.com/office/drawing/2014/main" id="{982D45C1-8A2E-45CD-BC65-EEF5084A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62625"/>
            <a:ext cx="323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9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9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tagtag</a:t>
            </a:r>
          </a:p>
        </p:txBody>
      </p:sp>
      <p:sp>
        <p:nvSpPr>
          <p:cNvPr id="5" name="09">
            <a:extLst xmlns:a="http://schemas.openxmlformats.org/drawingml/2006/main">
              <a:ext uri="{FF2B5EF4-FFF2-40B4-BE49-F238E27FC236}">
                <a16:creationId xmlns:a16="http://schemas.microsoft.com/office/drawing/2014/main" id="{32A9A483-8EEB-441B-8F7C-D08BC2E4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698409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2026-09-26T17:53:37.0920000Z</dcterms:created>
  <dcterms:modified xsi:type="dcterms:W3CDTF">2026-09-26T17:53:37.0920000Z</dcterms:modified>
</coreProperties>
</file>